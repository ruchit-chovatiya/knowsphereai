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Roboto Bold" charset="1" panose="02000000000000000000"/>
      <p:regular r:id="rId16"/>
    </p:embeddedFont>
    <p:embeddedFont>
      <p:font typeface="Roboto" charset="1" panose="02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28.png" Type="http://schemas.openxmlformats.org/officeDocument/2006/relationships/image"/><Relationship Id="rId12" Target="../media/image29.png" Type="http://schemas.openxmlformats.org/officeDocument/2006/relationships/image"/><Relationship Id="rId13" Target="../media/image30.png" Type="http://schemas.openxmlformats.org/officeDocument/2006/relationships/image"/><Relationship Id="rId14" Target="../media/image31.png" Type="http://schemas.openxmlformats.org/officeDocument/2006/relationships/image"/><Relationship Id="rId15" Target="../media/image32.png" Type="http://schemas.openxmlformats.org/officeDocument/2006/relationships/image"/><Relationship Id="rId16" Target="../media/image33.png" Type="http://schemas.openxmlformats.org/officeDocument/2006/relationships/image"/><Relationship Id="rId17" Target="../media/image34.png" Type="http://schemas.openxmlformats.org/officeDocument/2006/relationships/image"/><Relationship Id="rId18" Target="../media/image35.png" Type="http://schemas.openxmlformats.org/officeDocument/2006/relationships/image"/><Relationship Id="rId19" Target="../media/image36.png" Type="http://schemas.openxmlformats.org/officeDocument/2006/relationships/image"/><Relationship Id="rId2" Target="../media/image19.png" Type="http://schemas.openxmlformats.org/officeDocument/2006/relationships/image"/><Relationship Id="rId20" Target="../media/image37.png" Type="http://schemas.openxmlformats.org/officeDocument/2006/relationships/image"/><Relationship Id="rId21" Target="../media/image38.png" Type="http://schemas.openxmlformats.org/officeDocument/2006/relationships/image"/><Relationship Id="rId22" Target="../media/image39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Relationship Id="rId7" Target="../media/image24.png" Type="http://schemas.openxmlformats.org/officeDocument/2006/relationships/image"/><Relationship Id="rId8" Target="../media/image25.pn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41.png" Type="http://schemas.openxmlformats.org/officeDocument/2006/relationships/image"/><Relationship Id="rId4" Target="../media/image42.png" Type="http://schemas.openxmlformats.org/officeDocument/2006/relationships/image"/><Relationship Id="rId5" Target="../media/image43.png" Type="http://schemas.openxmlformats.org/officeDocument/2006/relationships/image"/><Relationship Id="rId6" Target="../media/image44.png" Type="http://schemas.openxmlformats.org/officeDocument/2006/relationships/image"/><Relationship Id="rId7" Target="../media/image45.png" Type="http://schemas.openxmlformats.org/officeDocument/2006/relationships/image"/><Relationship Id="rId8" Target="../media/image46.png" Type="http://schemas.openxmlformats.org/officeDocument/2006/relationships/image"/><Relationship Id="rId9" Target="../media/image4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6.png" Type="http://schemas.openxmlformats.org/officeDocument/2006/relationships/image"/><Relationship Id="rId11" Target="../media/image57.png" Type="http://schemas.openxmlformats.org/officeDocument/2006/relationships/image"/><Relationship Id="rId2" Target="../media/image48.png" Type="http://schemas.openxmlformats.org/officeDocument/2006/relationships/image"/><Relationship Id="rId3" Target="../media/image49.png" Type="http://schemas.openxmlformats.org/officeDocument/2006/relationships/image"/><Relationship Id="rId4" Target="../media/image50.png" Type="http://schemas.openxmlformats.org/officeDocument/2006/relationships/image"/><Relationship Id="rId5" Target="../media/image51.png" Type="http://schemas.openxmlformats.org/officeDocument/2006/relationships/image"/><Relationship Id="rId6" Target="../media/image52.png" Type="http://schemas.openxmlformats.org/officeDocument/2006/relationships/image"/><Relationship Id="rId7" Target="../media/image53.png" Type="http://schemas.openxmlformats.org/officeDocument/2006/relationships/image"/><Relationship Id="rId8" Target="../media/image54.png" Type="http://schemas.openxmlformats.org/officeDocument/2006/relationships/image"/><Relationship Id="rId9" Target="../media/image5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6.png" Type="http://schemas.openxmlformats.org/officeDocument/2006/relationships/image"/><Relationship Id="rId11" Target="../media/image67.png" Type="http://schemas.openxmlformats.org/officeDocument/2006/relationships/image"/><Relationship Id="rId12" Target="../media/image68.png" Type="http://schemas.openxmlformats.org/officeDocument/2006/relationships/image"/><Relationship Id="rId13" Target="../media/image69.png" Type="http://schemas.openxmlformats.org/officeDocument/2006/relationships/image"/><Relationship Id="rId14" Target="../media/image70.png" Type="http://schemas.openxmlformats.org/officeDocument/2006/relationships/image"/><Relationship Id="rId15" Target="../media/image71.png" Type="http://schemas.openxmlformats.org/officeDocument/2006/relationships/image"/><Relationship Id="rId16" Target="../media/image72.png" Type="http://schemas.openxmlformats.org/officeDocument/2006/relationships/image"/><Relationship Id="rId2" Target="../media/image58.png" Type="http://schemas.openxmlformats.org/officeDocument/2006/relationships/image"/><Relationship Id="rId3" Target="../media/image59.png" Type="http://schemas.openxmlformats.org/officeDocument/2006/relationships/image"/><Relationship Id="rId4" Target="../media/image60.png" Type="http://schemas.openxmlformats.org/officeDocument/2006/relationships/image"/><Relationship Id="rId5" Target="../media/image61.png" Type="http://schemas.openxmlformats.org/officeDocument/2006/relationships/image"/><Relationship Id="rId6" Target="../media/image62.png" Type="http://schemas.openxmlformats.org/officeDocument/2006/relationships/image"/><Relationship Id="rId7" Target="../media/image63.png" Type="http://schemas.openxmlformats.org/officeDocument/2006/relationships/image"/><Relationship Id="rId8" Target="../media/image64.png" Type="http://schemas.openxmlformats.org/officeDocument/2006/relationships/image"/><Relationship Id="rId9" Target="../media/image6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1.png" Type="http://schemas.openxmlformats.org/officeDocument/2006/relationships/image"/><Relationship Id="rId11" Target="../media/image82.png" Type="http://schemas.openxmlformats.org/officeDocument/2006/relationships/image"/><Relationship Id="rId12" Target="../media/image83.png" Type="http://schemas.openxmlformats.org/officeDocument/2006/relationships/image"/><Relationship Id="rId13" Target="../media/image84.png" Type="http://schemas.openxmlformats.org/officeDocument/2006/relationships/image"/><Relationship Id="rId14" Target="../media/image85.png" Type="http://schemas.openxmlformats.org/officeDocument/2006/relationships/image"/><Relationship Id="rId15" Target="../media/image86.png" Type="http://schemas.openxmlformats.org/officeDocument/2006/relationships/image"/><Relationship Id="rId16" Target="../media/image87.png" Type="http://schemas.openxmlformats.org/officeDocument/2006/relationships/image"/><Relationship Id="rId17" Target="../media/image88.png" Type="http://schemas.openxmlformats.org/officeDocument/2006/relationships/image"/><Relationship Id="rId18" Target="../media/image89.png" Type="http://schemas.openxmlformats.org/officeDocument/2006/relationships/image"/><Relationship Id="rId19" Target="../media/image90.png" Type="http://schemas.openxmlformats.org/officeDocument/2006/relationships/image"/><Relationship Id="rId2" Target="../media/image73.png" Type="http://schemas.openxmlformats.org/officeDocument/2006/relationships/image"/><Relationship Id="rId20" Target="../media/image91.png" Type="http://schemas.openxmlformats.org/officeDocument/2006/relationships/image"/><Relationship Id="rId21" Target="../media/image92.png" Type="http://schemas.openxmlformats.org/officeDocument/2006/relationships/image"/><Relationship Id="rId3" Target="../media/image74.png" Type="http://schemas.openxmlformats.org/officeDocument/2006/relationships/image"/><Relationship Id="rId4" Target="../media/image75.png" Type="http://schemas.openxmlformats.org/officeDocument/2006/relationships/image"/><Relationship Id="rId5" Target="../media/image76.png" Type="http://schemas.openxmlformats.org/officeDocument/2006/relationships/image"/><Relationship Id="rId6" Target="../media/image77.png" Type="http://schemas.openxmlformats.org/officeDocument/2006/relationships/image"/><Relationship Id="rId7" Target="../media/image78.png" Type="http://schemas.openxmlformats.org/officeDocument/2006/relationships/image"/><Relationship Id="rId8" Target="../media/image79.png" Type="http://schemas.openxmlformats.org/officeDocument/2006/relationships/image"/><Relationship Id="rId9" Target="../media/image8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1.png" Type="http://schemas.openxmlformats.org/officeDocument/2006/relationships/image"/><Relationship Id="rId11" Target="../media/image102.png" Type="http://schemas.openxmlformats.org/officeDocument/2006/relationships/image"/><Relationship Id="rId2" Target="../media/image93.png" Type="http://schemas.openxmlformats.org/officeDocument/2006/relationships/image"/><Relationship Id="rId3" Target="../media/image94.png" Type="http://schemas.openxmlformats.org/officeDocument/2006/relationships/image"/><Relationship Id="rId4" Target="../media/image95.png" Type="http://schemas.openxmlformats.org/officeDocument/2006/relationships/image"/><Relationship Id="rId5" Target="../media/image96.png" Type="http://schemas.openxmlformats.org/officeDocument/2006/relationships/image"/><Relationship Id="rId6" Target="../media/image97.png" Type="http://schemas.openxmlformats.org/officeDocument/2006/relationships/image"/><Relationship Id="rId7" Target="../media/image98.png" Type="http://schemas.openxmlformats.org/officeDocument/2006/relationships/image"/><Relationship Id="rId8" Target="../media/image99.png" Type="http://schemas.openxmlformats.org/officeDocument/2006/relationships/image"/><Relationship Id="rId9" Target="../media/image10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3.png" Type="http://schemas.openxmlformats.org/officeDocument/2006/relationships/image"/><Relationship Id="rId3" Target="../media/image104.png" Type="http://schemas.openxmlformats.org/officeDocument/2006/relationships/image"/><Relationship Id="rId4" Target="../media/image105.png" Type="http://schemas.openxmlformats.org/officeDocument/2006/relationships/image"/><Relationship Id="rId5" Target="../media/image106.png" Type="http://schemas.openxmlformats.org/officeDocument/2006/relationships/image"/><Relationship Id="rId6" Target="../media/image107.png" Type="http://schemas.openxmlformats.org/officeDocument/2006/relationships/image"/><Relationship Id="rId7" Target="../media/image108.png" Type="http://schemas.openxmlformats.org/officeDocument/2006/relationships/image"/><Relationship Id="rId8" Target="../media/image10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829550" y="857250"/>
            <a:ext cx="3028950" cy="6219825"/>
          </a:xfrm>
          <a:custGeom>
            <a:avLst/>
            <a:gdLst/>
            <a:ahLst/>
            <a:cxnLst/>
            <a:rect r="r" b="b" t="t" l="l"/>
            <a:pathLst>
              <a:path h="6219825" w="3028950">
                <a:moveTo>
                  <a:pt x="0" y="0"/>
                </a:moveTo>
                <a:lnTo>
                  <a:pt x="3028950" y="0"/>
                </a:lnTo>
                <a:lnTo>
                  <a:pt x="3028950" y="6219825"/>
                </a:lnTo>
                <a:lnTo>
                  <a:pt x="0" y="6219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44025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163300" y="4714875"/>
            <a:ext cx="2628900" cy="3324225"/>
          </a:xfrm>
          <a:custGeom>
            <a:avLst/>
            <a:gdLst/>
            <a:ahLst/>
            <a:cxnLst/>
            <a:rect r="r" b="b" t="t" l="l"/>
            <a:pathLst>
              <a:path h="3324225" w="2628900">
                <a:moveTo>
                  <a:pt x="0" y="0"/>
                </a:moveTo>
                <a:lnTo>
                  <a:pt x="2628900" y="0"/>
                </a:lnTo>
                <a:lnTo>
                  <a:pt x="2628900" y="3324225"/>
                </a:lnTo>
                <a:lnTo>
                  <a:pt x="0" y="3324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536" t="0" r="-5434" b="-3151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001625" y="2276475"/>
            <a:ext cx="5286375" cy="8010525"/>
          </a:xfrm>
          <a:custGeom>
            <a:avLst/>
            <a:gdLst/>
            <a:ahLst/>
            <a:cxnLst/>
            <a:rect r="r" b="b" t="t" l="l"/>
            <a:pathLst>
              <a:path h="8010525" w="5286375">
                <a:moveTo>
                  <a:pt x="0" y="0"/>
                </a:moveTo>
                <a:lnTo>
                  <a:pt x="5286375" y="0"/>
                </a:lnTo>
                <a:lnTo>
                  <a:pt x="5286375" y="8010525"/>
                </a:lnTo>
                <a:lnTo>
                  <a:pt x="0" y="80105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063" t="-1664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838700" y="6734175"/>
            <a:ext cx="8877300" cy="3552825"/>
          </a:xfrm>
          <a:custGeom>
            <a:avLst/>
            <a:gdLst/>
            <a:ahLst/>
            <a:cxnLst/>
            <a:rect r="r" b="b" t="t" l="l"/>
            <a:pathLst>
              <a:path h="3552825" w="8877300">
                <a:moveTo>
                  <a:pt x="0" y="0"/>
                </a:moveTo>
                <a:lnTo>
                  <a:pt x="8877300" y="0"/>
                </a:lnTo>
                <a:lnTo>
                  <a:pt x="8877300" y="3552825"/>
                </a:lnTo>
                <a:lnTo>
                  <a:pt x="0" y="35528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5472" t="-268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76656" y="1760943"/>
            <a:ext cx="8485632" cy="1908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3"/>
              </a:lnSpc>
            </a:pPr>
            <a:r>
              <a:rPr lang="en-US" b="true" sz="14373" spc="-431">
                <a:solidFill>
                  <a:srgbClr val="7B9F49"/>
                </a:solidFill>
                <a:latin typeface="Roboto Bold"/>
                <a:ea typeface="Roboto Bold"/>
                <a:cs typeface="Roboto Bold"/>
                <a:sym typeface="Roboto Bold"/>
              </a:rPr>
              <a:t>SAVORA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6384" y="3709127"/>
            <a:ext cx="8119872" cy="468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7"/>
              </a:lnSpc>
            </a:pPr>
            <a:r>
              <a:rPr lang="en-US" sz="3427" spc="-10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Save </a:t>
            </a:r>
            <a:r>
              <a:rPr lang="en-US" sz="3427" spc="-102">
                <a:solidFill>
                  <a:srgbClr val="8DBE4A"/>
                </a:solidFill>
                <a:latin typeface="Roboto"/>
                <a:ea typeface="Roboto"/>
                <a:cs typeface="Roboto"/>
                <a:sym typeface="Roboto"/>
              </a:rPr>
              <a:t>Food.</a:t>
            </a:r>
            <a:r>
              <a:rPr lang="en-US" sz="3427" spc="-10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Save </a:t>
            </a:r>
            <a:r>
              <a:rPr lang="en-US" sz="3427" spc="-102">
                <a:solidFill>
                  <a:srgbClr val="8DBE4A"/>
                </a:solidFill>
                <a:latin typeface="Roboto"/>
                <a:ea typeface="Roboto"/>
                <a:cs typeface="Roboto"/>
                <a:sym typeface="Roboto"/>
              </a:rPr>
              <a:t>Money.</a:t>
            </a:r>
            <a:r>
              <a:rPr lang="en-US" sz="3427" spc="-10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Reduce </a:t>
            </a:r>
            <a:r>
              <a:rPr lang="en-US" sz="3427" spc="-102">
                <a:solidFill>
                  <a:srgbClr val="8DBE4A"/>
                </a:solidFill>
                <a:latin typeface="Roboto"/>
                <a:ea typeface="Roboto"/>
                <a:cs typeface="Roboto"/>
                <a:sym typeface="Roboto"/>
              </a:rPr>
              <a:t>Waste.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781050" y="4724400"/>
            <a:ext cx="1619250" cy="66675"/>
          </a:xfrm>
          <a:custGeom>
            <a:avLst/>
            <a:gdLst/>
            <a:ahLst/>
            <a:cxnLst/>
            <a:rect r="r" b="b" t="t" l="l"/>
            <a:pathLst>
              <a:path h="66675" w="1619250">
                <a:moveTo>
                  <a:pt x="0" y="0"/>
                </a:moveTo>
                <a:lnTo>
                  <a:pt x="1619250" y="0"/>
                </a:lnTo>
                <a:lnTo>
                  <a:pt x="1619250" y="66675"/>
                </a:lnTo>
                <a:lnTo>
                  <a:pt x="0" y="666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8235" t="-14285" r="0" b="-214285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86384" y="5217081"/>
            <a:ext cx="5376672" cy="1403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5"/>
              </a:lnSpc>
            </a:pPr>
            <a:r>
              <a:rPr lang="en-US" sz="2371" spc="-7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Food Rescue &amp; Sustainable Food</a:t>
            </a:r>
          </a:p>
          <a:p>
            <a:pPr algn="l">
              <a:lnSpc>
                <a:spcPts val="3795"/>
              </a:lnSpc>
            </a:pPr>
            <a:r>
              <a:rPr lang="en-US" sz="2371" spc="-7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Ordering Platform</a:t>
            </a:r>
          </a:p>
          <a:p>
            <a:pPr algn="l">
              <a:lnSpc>
                <a:spcPts val="3795"/>
              </a:lnSpc>
            </a:pPr>
            <a:r>
              <a:rPr lang="en-US" sz="2371" spc="-7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Full Stack Development + AI/ML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6384" y="7909081"/>
            <a:ext cx="2212848" cy="279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2"/>
              </a:lnSpc>
            </a:pPr>
            <a:r>
              <a:rPr lang="en-US" b="true" sz="2002" spc="100">
                <a:solidFill>
                  <a:srgbClr val="8DBE4A"/>
                </a:solidFill>
                <a:latin typeface="Roboto Bold"/>
                <a:ea typeface="Roboto Bold"/>
                <a:cs typeface="Roboto Bold"/>
                <a:sym typeface="Roboto Bold"/>
              </a:rPr>
              <a:t>TEAM MEMBERS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48533" y="8330422"/>
            <a:ext cx="4005072" cy="1879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5"/>
              </a:lnSpc>
            </a:pPr>
            <a:r>
              <a:rPr lang="en-US" sz="2371" spc="-7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Ruchit Chovatiya — 2648518</a:t>
            </a:r>
          </a:p>
          <a:p>
            <a:pPr algn="l">
              <a:lnSpc>
                <a:spcPts val="3795"/>
              </a:lnSpc>
            </a:pPr>
            <a:r>
              <a:rPr lang="en-US" sz="2371" spc="-7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Kuldip Gohel — 2648520</a:t>
            </a:r>
          </a:p>
          <a:p>
            <a:pPr algn="l">
              <a:lnSpc>
                <a:spcPts val="3795"/>
              </a:lnSpc>
            </a:pPr>
            <a:r>
              <a:rPr lang="en-US" sz="2371" spc="-7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Pratixa Jayani  --- 2648524</a:t>
            </a:r>
          </a:p>
          <a:p>
            <a:pPr algn="l">
              <a:lnSpc>
                <a:spcPts val="3795"/>
              </a:lnSpc>
            </a:pPr>
            <a:r>
              <a:rPr lang="en-US" sz="2371" spc="-7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Varun Pawar  --- 2648538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3695700"/>
            <a:ext cx="9353550" cy="5638800"/>
          </a:xfrm>
          <a:custGeom>
            <a:avLst/>
            <a:gdLst/>
            <a:ahLst/>
            <a:cxnLst/>
            <a:rect r="r" b="b" t="t" l="l"/>
            <a:pathLst>
              <a:path h="5638800" w="9353550">
                <a:moveTo>
                  <a:pt x="0" y="0"/>
                </a:moveTo>
                <a:lnTo>
                  <a:pt x="9353550" y="0"/>
                </a:lnTo>
                <a:lnTo>
                  <a:pt x="9353550" y="5638800"/>
                </a:lnTo>
                <a:lnTo>
                  <a:pt x="0" y="5638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013" r="-101" b="-168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058275" y="3686175"/>
            <a:ext cx="9229725" cy="5648325"/>
          </a:xfrm>
          <a:custGeom>
            <a:avLst/>
            <a:gdLst/>
            <a:ahLst/>
            <a:cxnLst/>
            <a:rect r="r" b="b" t="t" l="l"/>
            <a:pathLst>
              <a:path h="5648325" w="9229725">
                <a:moveTo>
                  <a:pt x="0" y="0"/>
                </a:moveTo>
                <a:lnTo>
                  <a:pt x="9229725" y="0"/>
                </a:lnTo>
                <a:lnTo>
                  <a:pt x="9229725" y="5648325"/>
                </a:lnTo>
                <a:lnTo>
                  <a:pt x="0" y="56483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818" t="-843" r="0" b="-1686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04672" y="583589"/>
            <a:ext cx="7168896" cy="1349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13"/>
              </a:lnSpc>
            </a:pPr>
            <a:r>
              <a:rPr lang="en-US" sz="10013" spc="-2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The Problem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04672" y="1715159"/>
            <a:ext cx="8577072" cy="1349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13"/>
              </a:lnSpc>
            </a:pPr>
            <a:r>
              <a:rPr lang="en-US" sz="10013" spc="-200" b="true">
                <a:solidFill>
                  <a:srgbClr val="8DBE5D"/>
                </a:solidFill>
                <a:latin typeface="Roboto Bold"/>
                <a:ea typeface="Roboto Bold"/>
                <a:cs typeface="Roboto Bold"/>
                <a:sym typeface="Roboto Bold"/>
              </a:rPr>
              <a:t>We Are Solving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04672" y="3035237"/>
            <a:ext cx="7845552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3"/>
              </a:lnSpc>
            </a:pPr>
            <a:r>
              <a:rPr lang="en-US" sz="2519" spc="-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Food waste on one side. Affordability gap on the other.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" y="6337935"/>
            <a:ext cx="3255264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5"/>
              </a:lnSpc>
            </a:pPr>
            <a:r>
              <a:rPr lang="en-US" sz="3479" spc="-6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Food businesses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8420100" y="6000750"/>
            <a:ext cx="1600200" cy="962025"/>
          </a:xfrm>
          <a:custGeom>
            <a:avLst/>
            <a:gdLst/>
            <a:ahLst/>
            <a:cxnLst/>
            <a:rect r="r" b="b" t="t" l="l"/>
            <a:pathLst>
              <a:path h="962025" w="1600200">
                <a:moveTo>
                  <a:pt x="0" y="0"/>
                </a:moveTo>
                <a:lnTo>
                  <a:pt x="1600200" y="0"/>
                </a:lnTo>
                <a:lnTo>
                  <a:pt x="1600200" y="962025"/>
                </a:lnTo>
                <a:lnTo>
                  <a:pt x="0" y="9620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23" t="0" r="0" b="-11881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625328" y="6337935"/>
            <a:ext cx="2212848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5"/>
              </a:lnSpc>
            </a:pPr>
            <a:r>
              <a:rPr lang="en-US" sz="3479" spc="-6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Customers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0" y="9315450"/>
            <a:ext cx="18288000" cy="971550"/>
          </a:xfrm>
          <a:custGeom>
            <a:avLst/>
            <a:gdLst/>
            <a:ahLst/>
            <a:cxnLst/>
            <a:rect r="r" b="b" t="t" l="l"/>
            <a:pathLst>
              <a:path h="971550" w="18288000">
                <a:moveTo>
                  <a:pt x="0" y="0"/>
                </a:moveTo>
                <a:lnTo>
                  <a:pt x="18288000" y="0"/>
                </a:lnTo>
                <a:lnTo>
                  <a:pt x="18288000" y="971550"/>
                </a:lnTo>
                <a:lnTo>
                  <a:pt x="0" y="9715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0784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310128" y="9631871"/>
            <a:ext cx="11667744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4"/>
              </a:lnSpc>
            </a:pPr>
            <a:r>
              <a:rPr lang="en-US" b="true" sz="2962" spc="-59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Food waste meets affordability. </a:t>
            </a:r>
            <a:r>
              <a:rPr lang="en-US" b="true" sz="2962" spc="-59">
                <a:solidFill>
                  <a:srgbClr val="8DBE5D"/>
                </a:solidFill>
                <a:latin typeface="Roboto Bold"/>
                <a:ea typeface="Roboto Bold"/>
                <a:cs typeface="Roboto Bold"/>
                <a:sym typeface="Roboto Bold"/>
              </a:rPr>
              <a:t>That's the opportunity for SAVORA.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" y="6926062"/>
            <a:ext cx="3346704" cy="1953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3"/>
              </a:lnSpc>
            </a:pPr>
            <a:r>
              <a:rPr lang="en-US" sz="2224" spc="-4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Surplus food goes unsold</a:t>
            </a:r>
          </a:p>
          <a:p>
            <a:pPr algn="l">
              <a:lnSpc>
                <a:spcPts val="3113"/>
              </a:lnSpc>
            </a:pPr>
            <a:r>
              <a:rPr lang="en-US" sz="2224" spc="-4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and to waste</a:t>
            </a:r>
          </a:p>
          <a:p>
            <a:pPr algn="l">
              <a:lnSpc>
                <a:spcPts val="3113"/>
              </a:lnSpc>
            </a:pPr>
            <a:r>
              <a:rPr lang="en-US" sz="2224" spc="-4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Lost value</a:t>
            </a:r>
          </a:p>
          <a:p>
            <a:pPr algn="l">
              <a:lnSpc>
                <a:spcPts val="3113"/>
              </a:lnSpc>
            </a:pPr>
            <a:r>
              <a:rPr lang="en-US" sz="2224" spc="-4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Higher environmental impact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625328" y="7014585"/>
            <a:ext cx="2798064" cy="1795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2069" spc="-4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Need affordable food</a:t>
            </a:r>
          </a:p>
          <a:p>
            <a:pPr algn="l">
              <a:lnSpc>
                <a:spcPts val="2897"/>
              </a:lnSpc>
            </a:pPr>
            <a:r>
              <a:rPr lang="en-US" sz="2069" spc="-4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No easy way to find</a:t>
            </a:r>
          </a:p>
          <a:p>
            <a:pPr algn="l">
              <a:lnSpc>
                <a:spcPts val="2897"/>
              </a:lnSpc>
            </a:pPr>
            <a:r>
              <a:rPr lang="en-US" sz="2069" spc="-4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surplus options</a:t>
            </a:r>
          </a:p>
          <a:p>
            <a:pPr algn="l">
              <a:lnSpc>
                <a:spcPts val="2897"/>
              </a:lnSpc>
            </a:pPr>
          </a:p>
          <a:p>
            <a:pPr algn="l">
              <a:lnSpc>
                <a:spcPts val="2897"/>
              </a:lnSpc>
            </a:pPr>
            <a:r>
              <a:rPr lang="en-US" sz="2069" spc="-4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Affordability gap persists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58368" y="521867"/>
            <a:ext cx="6327648" cy="1349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13"/>
              </a:lnSpc>
            </a:pPr>
            <a:r>
              <a:rPr lang="en-US" sz="10013" spc="-4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Introducing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58368" y="1735733"/>
            <a:ext cx="5577840" cy="1349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13"/>
              </a:lnSpc>
            </a:pPr>
            <a:r>
              <a:rPr lang="en-US" sz="10013" spc="-400" b="true">
                <a:solidFill>
                  <a:srgbClr val="53B44D"/>
                </a:solidFill>
                <a:latin typeface="Roboto Bold"/>
                <a:ea typeface="Roboto Bold"/>
                <a:cs typeface="Roboto Bold"/>
                <a:sym typeface="Roboto Bold"/>
              </a:rPr>
              <a:t>SAVORA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94944" y="3051810"/>
            <a:ext cx="8375904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3"/>
              </a:lnSpc>
            </a:pPr>
            <a:r>
              <a:rPr lang="en-US" sz="2744" spc="-5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Connecting restaurants with customers for </a:t>
            </a:r>
            <a:r>
              <a:rPr lang="en-US" sz="2744" spc="-54" b="true">
                <a:solidFill>
                  <a:srgbClr val="53B44D"/>
                </a:solidFill>
                <a:latin typeface="Roboto Bold"/>
                <a:ea typeface="Roboto Bold"/>
                <a:cs typeface="Roboto Bold"/>
                <a:sym typeface="Roboto Bold"/>
              </a:rPr>
              <a:t>food rescue</a:t>
            </a:r>
            <a:r>
              <a:rPr lang="en-US" sz="2744" spc="-5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95325" y="3810000"/>
            <a:ext cx="5048250" cy="3714750"/>
          </a:xfrm>
          <a:custGeom>
            <a:avLst/>
            <a:gdLst/>
            <a:ahLst/>
            <a:cxnLst/>
            <a:rect r="r" b="b" t="t" l="l"/>
            <a:pathLst>
              <a:path h="3714750" w="5048250">
                <a:moveTo>
                  <a:pt x="0" y="0"/>
                </a:moveTo>
                <a:lnTo>
                  <a:pt x="5048250" y="0"/>
                </a:lnTo>
                <a:lnTo>
                  <a:pt x="5048250" y="3714750"/>
                </a:lnTo>
                <a:lnTo>
                  <a:pt x="0" y="37147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43" t="-4615" r="-2830" b="-5128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103120" y="7623048"/>
            <a:ext cx="204825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5"/>
              </a:lnSpc>
            </a:pPr>
            <a:r>
              <a:rPr lang="en-US" b="true" sz="3204" spc="-64">
                <a:solidFill>
                  <a:srgbClr val="53B44D"/>
                </a:solidFill>
                <a:latin typeface="Roboto Bold"/>
                <a:ea typeface="Roboto Bold"/>
                <a:cs typeface="Roboto Bold"/>
                <a:sym typeface="Roboto Bold"/>
              </a:rPr>
              <a:t>Restaurant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19072" y="8092083"/>
            <a:ext cx="2816352" cy="835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0"/>
              </a:lnSpc>
            </a:pPr>
            <a:r>
              <a:rPr lang="en-US" sz="237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List surplus meals at discounted prices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5819775" y="5476875"/>
            <a:ext cx="762000" cy="523875"/>
          </a:xfrm>
          <a:custGeom>
            <a:avLst/>
            <a:gdLst/>
            <a:ahLst/>
            <a:cxnLst/>
            <a:rect r="r" b="b" t="t" l="l"/>
            <a:pathLst>
              <a:path h="523875" w="762000">
                <a:moveTo>
                  <a:pt x="0" y="0"/>
                </a:moveTo>
                <a:lnTo>
                  <a:pt x="762000" y="0"/>
                </a:lnTo>
                <a:lnTo>
                  <a:pt x="762000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1250" t="-23636" r="-2250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648450" y="3819525"/>
            <a:ext cx="4991100" cy="3705225"/>
          </a:xfrm>
          <a:custGeom>
            <a:avLst/>
            <a:gdLst/>
            <a:ahLst/>
            <a:cxnLst/>
            <a:rect r="r" b="b" t="t" l="l"/>
            <a:pathLst>
              <a:path h="3705225" w="4991100">
                <a:moveTo>
                  <a:pt x="0" y="0"/>
                </a:moveTo>
                <a:lnTo>
                  <a:pt x="4991100" y="0"/>
                </a:lnTo>
                <a:lnTo>
                  <a:pt x="4991100" y="3705225"/>
                </a:lnTo>
                <a:lnTo>
                  <a:pt x="0" y="37052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480" t="-4884" r="-2480" b="-5141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351776" y="7623048"/>
            <a:ext cx="351129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5"/>
              </a:lnSpc>
            </a:pPr>
            <a:r>
              <a:rPr lang="en-US" b="true" sz="3204" spc="-64">
                <a:solidFill>
                  <a:srgbClr val="53B44D"/>
                </a:solidFill>
                <a:latin typeface="Roboto Bold"/>
                <a:ea typeface="Roboto Bold"/>
                <a:cs typeface="Roboto Bold"/>
                <a:sym typeface="Roboto Bold"/>
              </a:rPr>
              <a:t>SAVORA Platform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242048" y="8092083"/>
            <a:ext cx="3767328" cy="835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0"/>
              </a:lnSpc>
            </a:pPr>
            <a:r>
              <a:rPr lang="en-US" sz="237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Connects surplus food with people who want it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1687175" y="5476875"/>
            <a:ext cx="723900" cy="523875"/>
          </a:xfrm>
          <a:custGeom>
            <a:avLst/>
            <a:gdLst/>
            <a:ahLst/>
            <a:cxnLst/>
            <a:rect r="r" b="b" t="t" l="l"/>
            <a:pathLst>
              <a:path h="523875" w="723900">
                <a:moveTo>
                  <a:pt x="0" y="0"/>
                </a:moveTo>
                <a:lnTo>
                  <a:pt x="723900" y="0"/>
                </a:lnTo>
                <a:lnTo>
                  <a:pt x="723900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1052" t="-23636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458700" y="3810000"/>
            <a:ext cx="5057775" cy="3714750"/>
          </a:xfrm>
          <a:custGeom>
            <a:avLst/>
            <a:gdLst/>
            <a:ahLst/>
            <a:cxnLst/>
            <a:rect r="r" b="b" t="t" l="l"/>
            <a:pathLst>
              <a:path h="3714750" w="5057775">
                <a:moveTo>
                  <a:pt x="0" y="0"/>
                </a:moveTo>
                <a:lnTo>
                  <a:pt x="5057775" y="0"/>
                </a:lnTo>
                <a:lnTo>
                  <a:pt x="5057775" y="3714750"/>
                </a:lnTo>
                <a:lnTo>
                  <a:pt x="0" y="37147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129" t="-4615" r="-2448" b="-5128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4026896" y="7623048"/>
            <a:ext cx="182880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5"/>
              </a:lnSpc>
            </a:pPr>
            <a:r>
              <a:rPr lang="en-US" b="true" sz="3204" spc="-64">
                <a:solidFill>
                  <a:srgbClr val="53B44D"/>
                </a:solidFill>
                <a:latin typeface="Roboto Bold"/>
                <a:ea typeface="Roboto Bold"/>
                <a:cs typeface="Roboto Bold"/>
                <a:sym typeface="Roboto Bold"/>
              </a:rPr>
              <a:t>Customer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929616" y="8092083"/>
            <a:ext cx="3968496" cy="835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0"/>
              </a:lnSpc>
            </a:pPr>
            <a:r>
              <a:rPr lang="en-US" sz="237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Discover, compare, and order discounted surplus meals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0" y="9305925"/>
            <a:ext cx="18288000" cy="981075"/>
          </a:xfrm>
          <a:custGeom>
            <a:avLst/>
            <a:gdLst/>
            <a:ahLst/>
            <a:cxnLst/>
            <a:rect r="r" b="b" t="t" l="l"/>
            <a:pathLst>
              <a:path h="981075" w="18288000">
                <a:moveTo>
                  <a:pt x="0" y="0"/>
                </a:moveTo>
                <a:lnTo>
                  <a:pt x="18288000" y="0"/>
                </a:lnTo>
                <a:lnTo>
                  <a:pt x="18288000" y="981075"/>
                </a:lnTo>
                <a:lnTo>
                  <a:pt x="0" y="9810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9708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4206240" y="9590723"/>
            <a:ext cx="961948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4"/>
              </a:lnSpc>
            </a:pPr>
            <a:r>
              <a:rPr lang="en-US" b="true" sz="2962" spc="-59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Less waste. More value. Better future. </a:t>
            </a:r>
            <a:r>
              <a:rPr lang="en-US" b="true" sz="2962" spc="-59">
                <a:solidFill>
                  <a:srgbClr val="53B44D"/>
                </a:solidFill>
                <a:latin typeface="Roboto Bold"/>
                <a:ea typeface="Roboto Bold"/>
                <a:cs typeface="Roboto Bold"/>
                <a:sym typeface="Roboto Bold"/>
              </a:rPr>
              <a:t>That’s SAVORA.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461504" y="4345877"/>
            <a:ext cx="841248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518" spc="-30" b="true">
                <a:solidFill>
                  <a:srgbClr val="53B44D"/>
                </a:solidFill>
                <a:latin typeface="Roboto Bold"/>
                <a:ea typeface="Roboto Bold"/>
                <a:cs typeface="Roboto Bold"/>
                <a:sym typeface="Roboto Bold"/>
              </a:rPr>
              <a:t>SAVORA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461504" y="4853654"/>
            <a:ext cx="1481328" cy="433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687" spc="-33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Good food. Saved together.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607808" y="5452301"/>
            <a:ext cx="841248" cy="12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2"/>
              </a:lnSpc>
            </a:pPr>
            <a:r>
              <a:rPr lang="en-US" b="true" sz="768" spc="-15">
                <a:solidFill>
                  <a:srgbClr val="53B44D"/>
                </a:solidFill>
                <a:latin typeface="Roboto Bold"/>
                <a:ea typeface="Roboto Bold"/>
                <a:cs typeface="Roboto Bold"/>
                <a:sym typeface="Roboto Bold"/>
              </a:rPr>
              <a:t>Browse party meals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461504" y="6049327"/>
            <a:ext cx="1078992" cy="14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2"/>
              </a:lnSpc>
            </a:pPr>
            <a:r>
              <a:rPr lang="en-US" sz="993" spc="-19" b="true">
                <a:solidFill>
                  <a:srgbClr val="53B44D"/>
                </a:solidFill>
                <a:latin typeface="Roboto Bold"/>
                <a:ea typeface="Roboto Bold"/>
                <a:cs typeface="Roboto Bold"/>
                <a:sym typeface="Roboto Bold"/>
              </a:rPr>
              <a:t>Available near you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40080" y="563015"/>
            <a:ext cx="8174736" cy="1349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13"/>
              </a:lnSpc>
            </a:pPr>
            <a:r>
              <a:rPr lang="en-US" sz="10013" spc="-3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How SAVORA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40080" y="1694585"/>
            <a:ext cx="3529584" cy="1349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13"/>
              </a:lnSpc>
            </a:pPr>
            <a:r>
              <a:rPr lang="en-US" sz="10013" spc="-300" b="true">
                <a:solidFill>
                  <a:srgbClr val="78A448"/>
                </a:solidFill>
                <a:latin typeface="Roboto Bold"/>
                <a:ea typeface="Roboto Bold"/>
                <a:cs typeface="Roboto Bold"/>
                <a:sym typeface="Roboto Bold"/>
              </a:rPr>
              <a:t>Works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76656" y="2994469"/>
            <a:ext cx="4718304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593" spc="-7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From listing to order completion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2362200" y="3905250"/>
            <a:ext cx="38100" cy="6000750"/>
          </a:xfrm>
          <a:custGeom>
            <a:avLst/>
            <a:gdLst/>
            <a:ahLst/>
            <a:cxnLst/>
            <a:rect r="r" b="b" t="t" l="l"/>
            <a:pathLst>
              <a:path h="6000750" w="38100">
                <a:moveTo>
                  <a:pt x="0" y="0"/>
                </a:moveTo>
                <a:lnTo>
                  <a:pt x="38100" y="0"/>
                </a:lnTo>
                <a:lnTo>
                  <a:pt x="38100" y="6000750"/>
                </a:lnTo>
                <a:lnTo>
                  <a:pt x="0" y="60007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00000" t="-793" r="0" b="-2857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600575" y="3857625"/>
            <a:ext cx="47625" cy="6048375"/>
          </a:xfrm>
          <a:custGeom>
            <a:avLst/>
            <a:gdLst/>
            <a:ahLst/>
            <a:cxnLst/>
            <a:rect r="r" b="b" t="t" l="l"/>
            <a:pathLst>
              <a:path h="6048375" w="47625">
                <a:moveTo>
                  <a:pt x="0" y="0"/>
                </a:moveTo>
                <a:lnTo>
                  <a:pt x="47625" y="0"/>
                </a:lnTo>
                <a:lnTo>
                  <a:pt x="47625" y="6048375"/>
                </a:lnTo>
                <a:lnTo>
                  <a:pt x="0" y="60483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0000" t="0" r="-300000" b="-2834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848475" y="3914775"/>
            <a:ext cx="38100" cy="5981700"/>
          </a:xfrm>
          <a:custGeom>
            <a:avLst/>
            <a:gdLst/>
            <a:ahLst/>
            <a:cxnLst/>
            <a:rect r="r" b="b" t="t" l="l"/>
            <a:pathLst>
              <a:path h="5981700" w="38100">
                <a:moveTo>
                  <a:pt x="0" y="0"/>
                </a:moveTo>
                <a:lnTo>
                  <a:pt x="38100" y="0"/>
                </a:lnTo>
                <a:lnTo>
                  <a:pt x="38100" y="5981700"/>
                </a:lnTo>
                <a:lnTo>
                  <a:pt x="0" y="5981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75000" t="-955" r="-225000" b="-3025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15425" y="3905250"/>
            <a:ext cx="28575" cy="5991225"/>
          </a:xfrm>
          <a:custGeom>
            <a:avLst/>
            <a:gdLst/>
            <a:ahLst/>
            <a:cxnLst/>
            <a:rect r="r" b="b" t="t" l="l"/>
            <a:pathLst>
              <a:path h="5991225" w="28575">
                <a:moveTo>
                  <a:pt x="0" y="0"/>
                </a:moveTo>
                <a:lnTo>
                  <a:pt x="28575" y="0"/>
                </a:lnTo>
                <a:lnTo>
                  <a:pt x="28575" y="5991225"/>
                </a:lnTo>
                <a:lnTo>
                  <a:pt x="0" y="59912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66666" t="-794" r="0" b="-302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344275" y="3857625"/>
            <a:ext cx="57150" cy="6048375"/>
          </a:xfrm>
          <a:custGeom>
            <a:avLst/>
            <a:gdLst/>
            <a:ahLst/>
            <a:cxnLst/>
            <a:rect r="r" b="b" t="t" l="l"/>
            <a:pathLst>
              <a:path h="6048375" w="57150">
                <a:moveTo>
                  <a:pt x="0" y="0"/>
                </a:moveTo>
                <a:lnTo>
                  <a:pt x="57150" y="0"/>
                </a:lnTo>
                <a:lnTo>
                  <a:pt x="57150" y="6048375"/>
                </a:lnTo>
                <a:lnTo>
                  <a:pt x="0" y="60483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0000" t="0" r="-250000" b="-2834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601700" y="3914775"/>
            <a:ext cx="38100" cy="5981700"/>
          </a:xfrm>
          <a:custGeom>
            <a:avLst/>
            <a:gdLst/>
            <a:ahLst/>
            <a:cxnLst/>
            <a:rect r="r" b="b" t="t" l="l"/>
            <a:pathLst>
              <a:path h="5981700" w="38100">
                <a:moveTo>
                  <a:pt x="0" y="0"/>
                </a:moveTo>
                <a:lnTo>
                  <a:pt x="38100" y="0"/>
                </a:lnTo>
                <a:lnTo>
                  <a:pt x="38100" y="5981700"/>
                </a:lnTo>
                <a:lnTo>
                  <a:pt x="0" y="59817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75000" t="-955" r="-200000" b="-3025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849600" y="3857625"/>
            <a:ext cx="38100" cy="6057900"/>
          </a:xfrm>
          <a:custGeom>
            <a:avLst/>
            <a:gdLst/>
            <a:ahLst/>
            <a:cxnLst/>
            <a:rect r="r" b="b" t="t" l="l"/>
            <a:pathLst>
              <a:path h="6057900" w="38100">
                <a:moveTo>
                  <a:pt x="0" y="0"/>
                </a:moveTo>
                <a:lnTo>
                  <a:pt x="38100" y="0"/>
                </a:lnTo>
                <a:lnTo>
                  <a:pt x="38100" y="6057900"/>
                </a:lnTo>
                <a:lnTo>
                  <a:pt x="0" y="60579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475000" t="0" r="-25000" b="-2672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86384" y="4075438"/>
            <a:ext cx="841248" cy="821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84"/>
              </a:lnSpc>
            </a:pPr>
            <a:r>
              <a:rPr lang="en-US" b="true" sz="6084" spc="-182">
                <a:solidFill>
                  <a:srgbClr val="78A448"/>
                </a:solidFill>
                <a:latin typeface="Roboto Bold"/>
                <a:ea typeface="Roboto Bold"/>
                <a:cs typeface="Roboto Bold"/>
                <a:sym typeface="Roboto Bold"/>
              </a:rPr>
              <a:t>01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03504" y="4958525"/>
            <a:ext cx="1280160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3"/>
              </a:lnSpc>
            </a:pPr>
            <a:r>
              <a:rPr lang="en-US" sz="2002" spc="-6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Restaurant lists food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2124075" y="4257675"/>
            <a:ext cx="514350" cy="323850"/>
          </a:xfrm>
          <a:custGeom>
            <a:avLst/>
            <a:gdLst/>
            <a:ahLst/>
            <a:cxnLst/>
            <a:rect r="r" b="b" t="t" l="l"/>
            <a:pathLst>
              <a:path h="323850" w="514350">
                <a:moveTo>
                  <a:pt x="0" y="0"/>
                </a:moveTo>
                <a:lnTo>
                  <a:pt x="514350" y="0"/>
                </a:lnTo>
                <a:lnTo>
                  <a:pt x="514350" y="323850"/>
                </a:lnTo>
                <a:lnTo>
                  <a:pt x="0" y="3238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33333" t="-58823" r="-38888" b="-41176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054096" y="4062140"/>
            <a:ext cx="950976" cy="857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81"/>
              </a:lnSpc>
            </a:pPr>
            <a:r>
              <a:rPr lang="en-US" b="true" sz="6381" spc="-191">
                <a:solidFill>
                  <a:srgbClr val="78A448"/>
                </a:solidFill>
                <a:latin typeface="Roboto Bold"/>
                <a:ea typeface="Roboto Bold"/>
                <a:cs typeface="Roboto Bold"/>
                <a:sym typeface="Roboto Bold"/>
              </a:rPr>
              <a:t>02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688336" y="4958525"/>
            <a:ext cx="1682496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3"/>
              </a:lnSpc>
            </a:pPr>
            <a:r>
              <a:rPr lang="en-US" sz="2002" spc="-6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Adds quantity, price, details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4371975" y="4267200"/>
            <a:ext cx="523875" cy="304800"/>
          </a:xfrm>
          <a:custGeom>
            <a:avLst/>
            <a:gdLst/>
            <a:ahLst/>
            <a:cxnLst/>
            <a:rect r="r" b="b" t="t" l="l"/>
            <a:pathLst>
              <a:path h="304800" w="523875">
                <a:moveTo>
                  <a:pt x="0" y="0"/>
                </a:moveTo>
                <a:lnTo>
                  <a:pt x="523875" y="0"/>
                </a:lnTo>
                <a:lnTo>
                  <a:pt x="52387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3636" t="-65625" r="-21818" b="-46875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5303520" y="4062140"/>
            <a:ext cx="950976" cy="857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81"/>
              </a:lnSpc>
            </a:pPr>
            <a:r>
              <a:rPr lang="en-US" b="true" sz="6381" spc="-191">
                <a:solidFill>
                  <a:srgbClr val="78A448"/>
                </a:solidFill>
                <a:latin typeface="Roboto Bold"/>
                <a:ea typeface="Roboto Bold"/>
                <a:cs typeface="Roboto Bold"/>
                <a:sym typeface="Roboto Bold"/>
              </a:rPr>
              <a:t>03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230368" y="4979099"/>
            <a:ext cx="1097280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6"/>
              </a:lnSpc>
            </a:pPr>
            <a:r>
              <a:rPr lang="en-US" sz="1980" spc="-5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SAVORA publishes listing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6619875" y="4257675"/>
            <a:ext cx="523875" cy="323850"/>
          </a:xfrm>
          <a:custGeom>
            <a:avLst/>
            <a:gdLst/>
            <a:ahLst/>
            <a:cxnLst/>
            <a:rect r="r" b="b" t="t" l="l"/>
            <a:pathLst>
              <a:path h="323850" w="523875">
                <a:moveTo>
                  <a:pt x="0" y="0"/>
                </a:moveTo>
                <a:lnTo>
                  <a:pt x="523875" y="0"/>
                </a:lnTo>
                <a:lnTo>
                  <a:pt x="523875" y="323850"/>
                </a:lnTo>
                <a:lnTo>
                  <a:pt x="0" y="3238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18181" t="-58823" r="-9090" b="-41176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7534656" y="4062140"/>
            <a:ext cx="950976" cy="857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81"/>
              </a:lnSpc>
            </a:pPr>
            <a:r>
              <a:rPr lang="en-US" b="true" sz="6381" spc="-191">
                <a:solidFill>
                  <a:srgbClr val="78A448"/>
                </a:solidFill>
                <a:latin typeface="Roboto Bold"/>
                <a:ea typeface="Roboto Bold"/>
                <a:cs typeface="Roboto Bold"/>
                <a:sym typeface="Roboto Bold"/>
              </a:rPr>
              <a:t>04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406640" y="4979099"/>
            <a:ext cx="1280160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6"/>
              </a:lnSpc>
            </a:pPr>
            <a:r>
              <a:rPr lang="en-US" sz="1980" spc="-5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Customer discovers &amp; filters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8867775" y="4257675"/>
            <a:ext cx="495300" cy="323850"/>
          </a:xfrm>
          <a:custGeom>
            <a:avLst/>
            <a:gdLst/>
            <a:ahLst/>
            <a:cxnLst/>
            <a:rect r="r" b="b" t="t" l="l"/>
            <a:pathLst>
              <a:path h="323850" w="495300">
                <a:moveTo>
                  <a:pt x="0" y="0"/>
                </a:moveTo>
                <a:lnTo>
                  <a:pt x="495300" y="0"/>
                </a:lnTo>
                <a:lnTo>
                  <a:pt x="495300" y="323850"/>
                </a:lnTo>
                <a:lnTo>
                  <a:pt x="0" y="3238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32692" t="-58823" r="0" b="-41176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9784080" y="4062140"/>
            <a:ext cx="950976" cy="857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81"/>
              </a:lnSpc>
            </a:pPr>
            <a:r>
              <a:rPr lang="en-US" b="true" sz="6381" spc="-191">
                <a:solidFill>
                  <a:srgbClr val="78A448"/>
                </a:solidFill>
                <a:latin typeface="Roboto Bold"/>
                <a:ea typeface="Roboto Bold"/>
                <a:cs typeface="Roboto Bold"/>
                <a:sym typeface="Roboto Bold"/>
              </a:rPr>
              <a:t>05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747504" y="4979099"/>
            <a:ext cx="1097280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6"/>
              </a:lnSpc>
            </a:pPr>
            <a:r>
              <a:rPr lang="en-US" sz="1980" spc="-5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Customer checks details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1115675" y="4267200"/>
            <a:ext cx="533400" cy="314325"/>
          </a:xfrm>
          <a:custGeom>
            <a:avLst/>
            <a:gdLst/>
            <a:ahLst/>
            <a:cxnLst/>
            <a:rect r="r" b="b" t="t" l="l"/>
            <a:pathLst>
              <a:path h="314325" w="533400">
                <a:moveTo>
                  <a:pt x="0" y="0"/>
                </a:moveTo>
                <a:lnTo>
                  <a:pt x="533400" y="0"/>
                </a:lnTo>
                <a:lnTo>
                  <a:pt x="533400" y="314325"/>
                </a:lnTo>
                <a:lnTo>
                  <a:pt x="0" y="3143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3571" t="-63636" r="-21428" b="-42424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2033504" y="4062140"/>
            <a:ext cx="950976" cy="857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81"/>
              </a:lnSpc>
            </a:pPr>
            <a:r>
              <a:rPr lang="en-US" b="true" sz="6381" spc="-191">
                <a:solidFill>
                  <a:srgbClr val="78A448"/>
                </a:solidFill>
                <a:latin typeface="Roboto Bold"/>
                <a:ea typeface="Roboto Bold"/>
                <a:cs typeface="Roboto Bold"/>
                <a:sym typeface="Roboto Bold"/>
              </a:rPr>
              <a:t>06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106656" y="5053775"/>
            <a:ext cx="128016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8"/>
              </a:lnSpc>
            </a:pPr>
            <a:r>
              <a:rPr lang="en-US" sz="1490" spc="-44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AI recommends options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3373100" y="4257675"/>
            <a:ext cx="561975" cy="323850"/>
          </a:xfrm>
          <a:custGeom>
            <a:avLst/>
            <a:gdLst/>
            <a:ahLst/>
            <a:cxnLst/>
            <a:rect r="r" b="b" t="t" l="l"/>
            <a:pathLst>
              <a:path h="323850" w="561975">
                <a:moveTo>
                  <a:pt x="0" y="0"/>
                </a:moveTo>
                <a:lnTo>
                  <a:pt x="561975" y="0"/>
                </a:lnTo>
                <a:lnTo>
                  <a:pt x="561975" y="323850"/>
                </a:lnTo>
                <a:lnTo>
                  <a:pt x="0" y="3238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16949" t="-58823" r="0" b="-41176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4282928" y="4062140"/>
            <a:ext cx="950976" cy="857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81"/>
              </a:lnSpc>
            </a:pPr>
            <a:r>
              <a:rPr lang="en-US" b="true" sz="6381" spc="-191">
                <a:solidFill>
                  <a:srgbClr val="78A448"/>
                </a:solidFill>
                <a:latin typeface="Roboto Bold"/>
                <a:ea typeface="Roboto Bold"/>
                <a:cs typeface="Roboto Bold"/>
                <a:sym typeface="Roboto Bold"/>
              </a:rPr>
              <a:t>07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136624" y="4987100"/>
            <a:ext cx="1280160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6"/>
              </a:lnSpc>
            </a:pPr>
            <a:r>
              <a:rPr lang="en-US" sz="1913" spc="-57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Customer places order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15601950" y="4257675"/>
            <a:ext cx="514350" cy="323850"/>
          </a:xfrm>
          <a:custGeom>
            <a:avLst/>
            <a:gdLst/>
            <a:ahLst/>
            <a:cxnLst/>
            <a:rect r="r" b="b" t="t" l="l"/>
            <a:pathLst>
              <a:path h="323850" w="514350">
                <a:moveTo>
                  <a:pt x="0" y="0"/>
                </a:moveTo>
                <a:lnTo>
                  <a:pt x="514350" y="0"/>
                </a:lnTo>
                <a:lnTo>
                  <a:pt x="514350" y="323850"/>
                </a:lnTo>
                <a:lnTo>
                  <a:pt x="0" y="32385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-29629" t="-58823" r="0" b="-41176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6514064" y="4062140"/>
            <a:ext cx="950976" cy="857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81"/>
              </a:lnSpc>
            </a:pPr>
            <a:r>
              <a:rPr lang="en-US" b="true" sz="6381" spc="-191">
                <a:solidFill>
                  <a:srgbClr val="78A448"/>
                </a:solidFill>
                <a:latin typeface="Roboto Bold"/>
                <a:ea typeface="Roboto Bold"/>
                <a:cs typeface="Roboto Bold"/>
                <a:sym typeface="Roboto Bold"/>
              </a:rPr>
              <a:t>08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6550640" y="4958525"/>
            <a:ext cx="98755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3"/>
              </a:lnSpc>
            </a:pPr>
            <a:r>
              <a:rPr lang="en-US" sz="2002" spc="-6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Pickup / delivery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0" y="6762750"/>
            <a:ext cx="2390775" cy="3314700"/>
          </a:xfrm>
          <a:custGeom>
            <a:avLst/>
            <a:gdLst/>
            <a:ahLst/>
            <a:cxnLst/>
            <a:rect r="r" b="b" t="t" l="l"/>
            <a:pathLst>
              <a:path h="3314700" w="2390775">
                <a:moveTo>
                  <a:pt x="0" y="0"/>
                </a:moveTo>
                <a:lnTo>
                  <a:pt x="2390775" y="0"/>
                </a:lnTo>
                <a:lnTo>
                  <a:pt x="2390775" y="3314700"/>
                </a:lnTo>
                <a:lnTo>
                  <a:pt x="0" y="331470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-3735" r="-398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2609850" y="6143625"/>
            <a:ext cx="1828800" cy="3762375"/>
          </a:xfrm>
          <a:custGeom>
            <a:avLst/>
            <a:gdLst/>
            <a:ahLst/>
            <a:cxnLst/>
            <a:rect r="r" b="b" t="t" l="l"/>
            <a:pathLst>
              <a:path h="3762375" w="1828800">
                <a:moveTo>
                  <a:pt x="0" y="0"/>
                </a:moveTo>
                <a:lnTo>
                  <a:pt x="1828800" y="0"/>
                </a:lnTo>
                <a:lnTo>
                  <a:pt x="1828800" y="3762375"/>
                </a:lnTo>
                <a:lnTo>
                  <a:pt x="0" y="376237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-3797" r="-7291" b="-4556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2943225" y="6772275"/>
            <a:ext cx="1190625" cy="847725"/>
          </a:xfrm>
          <a:custGeom>
            <a:avLst/>
            <a:gdLst/>
            <a:ahLst/>
            <a:cxnLst/>
            <a:rect r="r" b="b" t="t" l="l"/>
            <a:pathLst>
              <a:path h="847725" w="1190625">
                <a:moveTo>
                  <a:pt x="0" y="0"/>
                </a:moveTo>
                <a:lnTo>
                  <a:pt x="1190625" y="0"/>
                </a:lnTo>
                <a:lnTo>
                  <a:pt x="1190625" y="847725"/>
                </a:lnTo>
                <a:lnTo>
                  <a:pt x="0" y="84772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-9600" t="-15730" r="-800" b="-11235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2876550" y="9401175"/>
            <a:ext cx="1266825" cy="304800"/>
          </a:xfrm>
          <a:custGeom>
            <a:avLst/>
            <a:gdLst/>
            <a:ahLst/>
            <a:cxnLst/>
            <a:rect r="r" b="b" t="t" l="l"/>
            <a:pathLst>
              <a:path h="304800" w="1266825">
                <a:moveTo>
                  <a:pt x="0" y="0"/>
                </a:moveTo>
                <a:lnTo>
                  <a:pt x="1266825" y="0"/>
                </a:lnTo>
                <a:lnTo>
                  <a:pt x="126682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-3759" t="-62500" r="0" b="-5000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4781550" y="6153150"/>
            <a:ext cx="1876425" cy="3743325"/>
          </a:xfrm>
          <a:custGeom>
            <a:avLst/>
            <a:gdLst/>
            <a:ahLst/>
            <a:cxnLst/>
            <a:rect r="r" b="b" t="t" l="l"/>
            <a:pathLst>
              <a:path h="3743325" w="1876425">
                <a:moveTo>
                  <a:pt x="0" y="0"/>
                </a:moveTo>
                <a:lnTo>
                  <a:pt x="1876425" y="0"/>
                </a:lnTo>
                <a:lnTo>
                  <a:pt x="1876425" y="3743325"/>
                </a:lnTo>
                <a:lnTo>
                  <a:pt x="0" y="374332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-4071" r="-5076" b="-4834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5095875" y="6953250"/>
            <a:ext cx="1285875" cy="981075"/>
          </a:xfrm>
          <a:custGeom>
            <a:avLst/>
            <a:gdLst/>
            <a:ahLst/>
            <a:cxnLst/>
            <a:rect r="r" b="b" t="t" l="l"/>
            <a:pathLst>
              <a:path h="981075" w="1285875">
                <a:moveTo>
                  <a:pt x="0" y="0"/>
                </a:moveTo>
                <a:lnTo>
                  <a:pt x="1285875" y="0"/>
                </a:lnTo>
                <a:lnTo>
                  <a:pt x="1285875" y="981075"/>
                </a:lnTo>
                <a:lnTo>
                  <a:pt x="0" y="98107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-7407" t="-9708" r="-11851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2907792" y="6524434"/>
            <a:ext cx="859536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5"/>
              </a:lnSpc>
            </a:pPr>
            <a:r>
              <a:rPr lang="en-US" sz="1162" spc="-34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Add Listing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5065776" y="6565582"/>
            <a:ext cx="73152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5"/>
              </a:lnSpc>
            </a:pPr>
            <a:r>
              <a:rPr lang="en-US" sz="1162" spc="-34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SAVORA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278624" y="6617017"/>
            <a:ext cx="493776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5"/>
              </a:lnSpc>
            </a:pPr>
            <a:r>
              <a:rPr lang="en-US" sz="1162" spc="-34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Search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7278624" y="7069645"/>
            <a:ext cx="530352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5"/>
              </a:lnSpc>
            </a:pPr>
            <a:r>
              <a:rPr lang="en-US" sz="1162" spc="-34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Near me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096125" y="7434262"/>
            <a:ext cx="996456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90"/>
              </a:lnSpc>
            </a:pPr>
            <a:r>
              <a:rPr lang="en-US" b="true" sz="825" spc="-24">
                <a:solidFill>
                  <a:srgbClr val="78A448"/>
                </a:solidFill>
                <a:latin typeface="Roboto Bold"/>
                <a:ea typeface="Roboto Bold"/>
                <a:cs typeface="Roboto Bold"/>
                <a:sym typeface="Roboto Bold"/>
              </a:rPr>
              <a:t>IT Will show how much KM  the Distance is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114700" y="8060626"/>
            <a:ext cx="1139796" cy="215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1"/>
              </a:lnSpc>
            </a:pPr>
            <a:r>
              <a:rPr lang="en-US" sz="1393" spc="-41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Fresh Meals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5120640" y="8298751"/>
            <a:ext cx="765365" cy="166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3"/>
              </a:lnSpc>
            </a:pPr>
            <a:r>
              <a:rPr lang="en-US" sz="1094" spc="-3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10 portions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5120640" y="8549830"/>
            <a:ext cx="468173" cy="228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5"/>
              </a:lnSpc>
            </a:pPr>
            <a:r>
              <a:rPr lang="en-US" sz="1487" spc="-44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₹120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5663739" y="8563928"/>
            <a:ext cx="655735" cy="189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83"/>
              </a:lnSpc>
            </a:pPr>
            <a:r>
              <a:rPr lang="en-US" b="true" sz="1319" spc="-39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Available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2926080" y="7731859"/>
            <a:ext cx="987552" cy="152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2"/>
              </a:lnSpc>
            </a:pPr>
            <a:r>
              <a:rPr lang="en-US" sz="1021" spc="-3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Quantity</a:t>
            </a:r>
          </a:p>
          <a:p>
            <a:pPr algn="l">
              <a:lnSpc>
                <a:spcPts val="1532"/>
              </a:lnSpc>
            </a:pPr>
            <a:r>
              <a:rPr lang="en-US" sz="1021" spc="-3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</a:p>
          <a:p>
            <a:pPr algn="l">
              <a:lnSpc>
                <a:spcPts val="1532"/>
              </a:lnSpc>
            </a:pPr>
            <a:r>
              <a:rPr lang="en-US" sz="1021" spc="-3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Price</a:t>
            </a:r>
          </a:p>
          <a:p>
            <a:pPr algn="l">
              <a:lnSpc>
                <a:spcPts val="1532"/>
              </a:lnSpc>
            </a:pPr>
            <a:r>
              <a:rPr lang="en-US" sz="1021" spc="-3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₹120</a:t>
            </a:r>
          </a:p>
          <a:p>
            <a:pPr algn="l">
              <a:lnSpc>
                <a:spcPts val="1532"/>
              </a:lnSpc>
            </a:pPr>
          </a:p>
          <a:p>
            <a:pPr algn="l">
              <a:lnSpc>
                <a:spcPts val="1532"/>
              </a:lnSpc>
            </a:pPr>
            <a:r>
              <a:rPr lang="en-US" sz="1021" spc="-3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Details</a:t>
            </a:r>
          </a:p>
          <a:p>
            <a:pPr algn="l">
              <a:lnSpc>
                <a:spcPts val="1532"/>
              </a:lnSpc>
            </a:pPr>
            <a:r>
              <a:rPr lang="en-US" sz="1021" spc="-3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Fresh meals</a:t>
            </a:r>
          </a:p>
          <a:p>
            <a:pPr algn="l">
              <a:lnSpc>
                <a:spcPts val="1532"/>
              </a:lnSpc>
            </a:pPr>
            <a:r>
              <a:rPr lang="en-US" sz="1021" spc="-3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best before today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9509760" y="7686865"/>
            <a:ext cx="1024128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5"/>
              </a:lnSpc>
            </a:pPr>
            <a:r>
              <a:rPr lang="en-US" sz="1162" spc="-34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Fresh Meals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9509760" y="7995666"/>
            <a:ext cx="69494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26"/>
              </a:lnSpc>
            </a:pPr>
            <a:r>
              <a:rPr lang="en-US" sz="1021" spc="-3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10 portions</a:t>
            </a:r>
          </a:p>
          <a:p>
            <a:pPr algn="l">
              <a:lnSpc>
                <a:spcPts val="1226"/>
              </a:lnSpc>
            </a:pPr>
            <a:r>
              <a:rPr lang="en-US" sz="1021" spc="-3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₹120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582912" y="8559355"/>
            <a:ext cx="694944" cy="14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2"/>
              </a:lnSpc>
            </a:pPr>
            <a:r>
              <a:rPr lang="en-US" sz="993" spc="-2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Best before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582912" y="8898826"/>
            <a:ext cx="365760" cy="14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2"/>
              </a:lnSpc>
            </a:pPr>
            <a:r>
              <a:rPr lang="en-US" sz="993" spc="-2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Pickup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9582912" y="9238298"/>
            <a:ext cx="694944" cy="14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2"/>
              </a:lnSpc>
            </a:pPr>
            <a:r>
              <a:rPr lang="en-US" sz="993" spc="-2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Restaurant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2582144" y="7653337"/>
            <a:ext cx="256032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25"/>
              </a:lnSpc>
            </a:pPr>
            <a:r>
              <a:rPr lang="en-US" b="true" sz="937" spc="-28">
                <a:solidFill>
                  <a:srgbClr val="78A448"/>
                </a:solidFill>
                <a:latin typeface="Roboto Bold"/>
                <a:ea typeface="Roboto Bold"/>
                <a:cs typeface="Roboto Bold"/>
                <a:sym typeface="Roboto Bold"/>
              </a:rPr>
              <a:t>₹100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2582144" y="8363902"/>
            <a:ext cx="256032" cy="14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92"/>
              </a:lnSpc>
            </a:pPr>
            <a:r>
              <a:rPr lang="en-US" b="true" sz="993" spc="-29">
                <a:solidFill>
                  <a:srgbClr val="78A448"/>
                </a:solidFill>
                <a:latin typeface="Roboto Bold"/>
                <a:ea typeface="Roboto Bold"/>
                <a:cs typeface="Roboto Bold"/>
                <a:sym typeface="Roboto Bold"/>
              </a:rPr>
              <a:t>₹90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2582144" y="9156763"/>
            <a:ext cx="256032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25"/>
              </a:lnSpc>
            </a:pPr>
            <a:r>
              <a:rPr lang="en-US" b="true" sz="937" spc="-28">
                <a:solidFill>
                  <a:srgbClr val="78A448"/>
                </a:solidFill>
                <a:latin typeface="Roboto Bold"/>
                <a:ea typeface="Roboto Bold"/>
                <a:cs typeface="Roboto Bold"/>
                <a:sym typeface="Roboto Bold"/>
              </a:rPr>
              <a:t>₹110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4045184" y="7822501"/>
            <a:ext cx="128016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1617" spc="-48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Order placed successfully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4045184" y="8602408"/>
            <a:ext cx="694944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5"/>
              </a:lnSpc>
            </a:pPr>
            <a:r>
              <a:rPr lang="en-US" sz="1162" spc="-34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Order ID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4045184" y="8835390"/>
            <a:ext cx="731520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399" spc="-41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#FS9821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1777472" y="6546723"/>
            <a:ext cx="1225296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5"/>
              </a:lnSpc>
            </a:pPr>
            <a:r>
              <a:rPr lang="en-US" sz="1162" spc="-34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Recommended for you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0497312" y="8559355"/>
            <a:ext cx="347472" cy="14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2"/>
              </a:lnSpc>
            </a:pPr>
            <a:r>
              <a:rPr lang="en-US" sz="993" spc="-2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Today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0497312" y="8898826"/>
            <a:ext cx="365760" cy="14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2"/>
              </a:lnSpc>
            </a:pPr>
            <a:r>
              <a:rPr lang="en-US" sz="993" spc="-2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2.1 km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0332720" y="9243060"/>
            <a:ext cx="493776" cy="12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6"/>
              </a:lnSpc>
            </a:pPr>
            <a:r>
              <a:rPr lang="en-US" sz="796" spc="-2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Green Bowl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1731503" y="7660354"/>
            <a:ext cx="693397" cy="138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14"/>
              </a:lnSpc>
            </a:pPr>
            <a:r>
              <a:rPr lang="en-US" b="true" sz="845" spc="-25">
                <a:solidFill>
                  <a:srgbClr val="78A448"/>
                </a:solidFill>
                <a:latin typeface="Roboto Bold"/>
                <a:ea typeface="Roboto Bold"/>
                <a:cs typeface="Roboto Bold"/>
                <a:sym typeface="Roboto Bold"/>
              </a:rPr>
              <a:t>Chole Bhuture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1793497" y="8331354"/>
            <a:ext cx="693397" cy="138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14"/>
              </a:lnSpc>
            </a:pPr>
            <a:r>
              <a:rPr lang="en-US" b="true" sz="845" spc="-25">
                <a:solidFill>
                  <a:srgbClr val="78A448"/>
                </a:solidFill>
                <a:latin typeface="Roboto Bold"/>
                <a:ea typeface="Roboto Bold"/>
                <a:cs typeface="Roboto Bold"/>
                <a:sym typeface="Roboto Bold"/>
              </a:rPr>
              <a:t>Pav bhaji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1759958" y="9156763"/>
            <a:ext cx="693397" cy="138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14"/>
              </a:lnSpc>
            </a:pPr>
            <a:r>
              <a:rPr lang="en-US" b="true" sz="845" spc="-25">
                <a:solidFill>
                  <a:srgbClr val="78A448"/>
                </a:solidFill>
                <a:latin typeface="Roboto Bold"/>
                <a:ea typeface="Roboto Bold"/>
                <a:cs typeface="Roboto Bold"/>
                <a:sym typeface="Roboto Bold"/>
              </a:rPr>
              <a:t>Dosa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924925" y="0"/>
            <a:ext cx="9363075" cy="4286250"/>
          </a:xfrm>
          <a:custGeom>
            <a:avLst/>
            <a:gdLst/>
            <a:ahLst/>
            <a:cxnLst/>
            <a:rect r="r" b="b" t="t" l="l"/>
            <a:pathLst>
              <a:path h="4286250" w="9363075">
                <a:moveTo>
                  <a:pt x="0" y="0"/>
                </a:moveTo>
                <a:lnTo>
                  <a:pt x="9363075" y="0"/>
                </a:lnTo>
                <a:lnTo>
                  <a:pt x="9363075" y="4286250"/>
                </a:lnTo>
                <a:lnTo>
                  <a:pt x="0" y="42862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04672" y="3011091"/>
            <a:ext cx="5815584" cy="837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8"/>
              </a:lnSpc>
            </a:pPr>
            <a:r>
              <a:rPr lang="en-US" sz="296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Comprehensive features for customers, restaurants, and admin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00100" y="4257675"/>
            <a:ext cx="5419725" cy="5600700"/>
          </a:xfrm>
          <a:custGeom>
            <a:avLst/>
            <a:gdLst/>
            <a:ahLst/>
            <a:cxnLst/>
            <a:rect r="r" b="b" t="t" l="l"/>
            <a:pathLst>
              <a:path h="5600700" w="5419725">
                <a:moveTo>
                  <a:pt x="0" y="0"/>
                </a:moveTo>
                <a:lnTo>
                  <a:pt x="5419725" y="0"/>
                </a:lnTo>
                <a:lnTo>
                  <a:pt x="5419725" y="5600700"/>
                </a:lnTo>
                <a:lnTo>
                  <a:pt x="0" y="5600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811" t="-3401" r="-1757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80160" y="4739467"/>
            <a:ext cx="2139696" cy="395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3"/>
              </a:lnSpc>
            </a:pPr>
            <a:r>
              <a:rPr lang="en-US" sz="2667" b="true">
                <a:solidFill>
                  <a:srgbClr val="7B9F49"/>
                </a:solidFill>
                <a:latin typeface="Roboto Bold"/>
                <a:ea typeface="Roboto Bold"/>
                <a:cs typeface="Roboto Bold"/>
                <a:sym typeface="Roboto Bold"/>
              </a:rPr>
              <a:t>CUSTOMERS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266825" y="5334000"/>
            <a:ext cx="4495800" cy="28575"/>
          </a:xfrm>
          <a:custGeom>
            <a:avLst/>
            <a:gdLst/>
            <a:ahLst/>
            <a:cxnLst/>
            <a:rect r="r" b="b" t="t" l="l"/>
            <a:pathLst>
              <a:path h="28575" w="4495800">
                <a:moveTo>
                  <a:pt x="0" y="0"/>
                </a:moveTo>
                <a:lnTo>
                  <a:pt x="4495800" y="0"/>
                </a:lnTo>
                <a:lnTo>
                  <a:pt x="4495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025" t="-666666" r="-2754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80160" y="5768114"/>
            <a:ext cx="2523744" cy="334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7"/>
              </a:lnSpc>
            </a:pPr>
            <a:r>
              <a:rPr lang="en-US" sz="231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Search &amp; filter food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80160" y="6370106"/>
            <a:ext cx="4315968" cy="344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8"/>
              </a:lnSpc>
            </a:pPr>
            <a:r>
              <a:rPr lang="en-US" sz="234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Discounted prices &amp; food details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80160" y="6951166"/>
            <a:ext cx="2834640" cy="779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3"/>
              </a:lnSpc>
            </a:pPr>
            <a:r>
              <a:rPr lang="en-US" sz="237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Best-before info, ingredients/allergens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80160" y="8015847"/>
            <a:ext cx="4242816" cy="344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9"/>
              </a:lnSpc>
            </a:pPr>
            <a:r>
              <a:rPr lang="en-US" sz="237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Personalized recommendations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80160" y="8597086"/>
            <a:ext cx="2798064" cy="779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3"/>
              </a:lnSpc>
            </a:pPr>
            <a:r>
              <a:rPr lang="en-US" sz="237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Ordering &amp; payment, ratings &amp; reviews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448425" y="4257675"/>
            <a:ext cx="5391150" cy="5600700"/>
          </a:xfrm>
          <a:custGeom>
            <a:avLst/>
            <a:gdLst/>
            <a:ahLst/>
            <a:cxnLst/>
            <a:rect r="r" b="b" t="t" l="l"/>
            <a:pathLst>
              <a:path h="5600700" w="5391150">
                <a:moveTo>
                  <a:pt x="0" y="0"/>
                </a:moveTo>
                <a:lnTo>
                  <a:pt x="5391150" y="0"/>
                </a:lnTo>
                <a:lnTo>
                  <a:pt x="5391150" y="5600700"/>
                </a:lnTo>
                <a:lnTo>
                  <a:pt x="0" y="56007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650" t="-3401" r="-265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095744" y="4739467"/>
            <a:ext cx="4023360" cy="395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3"/>
              </a:lnSpc>
            </a:pPr>
            <a:r>
              <a:rPr lang="en-US" sz="2667" b="true">
                <a:solidFill>
                  <a:srgbClr val="7B9F49"/>
                </a:solidFill>
                <a:latin typeface="Roboto Bold"/>
                <a:ea typeface="Roboto Bold"/>
                <a:cs typeface="Roboto Bold"/>
                <a:sym typeface="Roboto Bold"/>
              </a:rPr>
              <a:t>RESTAURANTS / HOTELS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7067550" y="5334000"/>
            <a:ext cx="4295775" cy="28575"/>
          </a:xfrm>
          <a:custGeom>
            <a:avLst/>
            <a:gdLst/>
            <a:ahLst/>
            <a:cxnLst/>
            <a:rect r="r" b="b" t="t" l="l"/>
            <a:pathLst>
              <a:path h="28575" w="4295775">
                <a:moveTo>
                  <a:pt x="0" y="0"/>
                </a:moveTo>
                <a:lnTo>
                  <a:pt x="4295775" y="0"/>
                </a:lnTo>
                <a:lnTo>
                  <a:pt x="4295775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439" t="-666666" r="-4212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95744" y="5747587"/>
            <a:ext cx="2377440" cy="779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3"/>
              </a:lnSpc>
            </a:pPr>
            <a:r>
              <a:rPr lang="en-US" sz="237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Add surplus food</a:t>
            </a:r>
          </a:p>
          <a:p>
            <a:pPr algn="l">
              <a:lnSpc>
                <a:spcPts val="3083"/>
              </a:lnSpc>
            </a:pPr>
            <a:r>
              <a:rPr lang="en-US" sz="237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&amp; set discounts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95744" y="6951166"/>
            <a:ext cx="2048256" cy="779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3"/>
              </a:lnSpc>
            </a:pPr>
            <a:r>
              <a:rPr lang="en-US" sz="237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Manage orders</a:t>
            </a:r>
          </a:p>
          <a:p>
            <a:pPr algn="l">
              <a:lnSpc>
                <a:spcPts val="3083"/>
              </a:lnSpc>
            </a:pPr>
            <a:r>
              <a:rPr lang="en-US" sz="237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&amp; availability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095744" y="8144458"/>
            <a:ext cx="2048256" cy="779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3"/>
              </a:lnSpc>
            </a:pPr>
            <a:r>
              <a:rPr lang="en-US" sz="237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Sales analytics</a:t>
            </a:r>
          </a:p>
          <a:p>
            <a:pPr algn="l">
              <a:lnSpc>
                <a:spcPts val="3083"/>
              </a:lnSpc>
            </a:pPr>
            <a:r>
              <a:rPr lang="en-US" sz="237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&amp; AI insights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2030075" y="4257675"/>
            <a:ext cx="5448300" cy="5600700"/>
          </a:xfrm>
          <a:custGeom>
            <a:avLst/>
            <a:gdLst/>
            <a:ahLst/>
            <a:cxnLst/>
            <a:rect r="r" b="b" t="t" l="l"/>
            <a:pathLst>
              <a:path h="5600700" w="5448300">
                <a:moveTo>
                  <a:pt x="0" y="0"/>
                </a:moveTo>
                <a:lnTo>
                  <a:pt x="5448300" y="0"/>
                </a:lnTo>
                <a:lnTo>
                  <a:pt x="5448300" y="5600700"/>
                </a:lnTo>
                <a:lnTo>
                  <a:pt x="0" y="56007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048" t="-3401" r="-2972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2527280" y="4739467"/>
            <a:ext cx="1115568" cy="395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3"/>
              </a:lnSpc>
            </a:pPr>
            <a:r>
              <a:rPr lang="en-US" sz="2667" b="true">
                <a:solidFill>
                  <a:srgbClr val="7B9F49"/>
                </a:solidFill>
                <a:latin typeface="Roboto Bold"/>
                <a:ea typeface="Roboto Bold"/>
                <a:cs typeface="Roboto Bold"/>
                <a:sym typeface="Roboto Bold"/>
              </a:rPr>
              <a:t>ADMIN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2506325" y="5334000"/>
            <a:ext cx="4476750" cy="28575"/>
          </a:xfrm>
          <a:custGeom>
            <a:avLst/>
            <a:gdLst/>
            <a:ahLst/>
            <a:cxnLst/>
            <a:rect r="r" b="b" t="t" l="l"/>
            <a:pathLst>
              <a:path h="28575" w="4476750">
                <a:moveTo>
                  <a:pt x="0" y="0"/>
                </a:moveTo>
                <a:lnTo>
                  <a:pt x="4476750" y="0"/>
                </a:lnTo>
                <a:lnTo>
                  <a:pt x="447675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340" t="-666666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2527280" y="5747587"/>
            <a:ext cx="2962656" cy="779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3"/>
              </a:lnSpc>
            </a:pPr>
            <a:r>
              <a:rPr lang="en-US" sz="237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User, restaurant,</a:t>
            </a:r>
          </a:p>
          <a:p>
            <a:pPr algn="l">
              <a:lnSpc>
                <a:spcPts val="3083"/>
              </a:lnSpc>
            </a:pPr>
            <a:r>
              <a:rPr lang="en-US" sz="237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&amp; listing management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527280" y="6951166"/>
            <a:ext cx="3255264" cy="779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3"/>
              </a:lnSpc>
            </a:pPr>
            <a:r>
              <a:rPr lang="en-US" sz="237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Monitor orders, reports,</a:t>
            </a:r>
          </a:p>
          <a:p>
            <a:pPr algn="l">
              <a:lnSpc>
                <a:spcPts val="3083"/>
              </a:lnSpc>
            </a:pPr>
            <a:r>
              <a:rPr lang="en-US" sz="237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&amp; complaints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527280" y="8128837"/>
            <a:ext cx="3035808" cy="388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3"/>
              </a:lnSpc>
            </a:pPr>
            <a:r>
              <a:rPr lang="en-US" sz="237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Food-rescue analytics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68096" y="626070"/>
            <a:ext cx="5010912" cy="2235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73"/>
              </a:lnSpc>
            </a:pPr>
            <a:r>
              <a:rPr lang="en-US" sz="9415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Key </a:t>
            </a:r>
            <a:r>
              <a:rPr lang="en-US" sz="9415" b="true">
                <a:solidFill>
                  <a:srgbClr val="7B9F49"/>
                </a:solidFill>
                <a:latin typeface="Roboto Bold"/>
                <a:ea typeface="Roboto Bold"/>
                <a:cs typeface="Roboto Bold"/>
                <a:sym typeface="Roboto Bold"/>
              </a:rPr>
              <a:t>Features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76656" y="752231"/>
            <a:ext cx="8503920" cy="953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74"/>
              </a:lnSpc>
            </a:pPr>
            <a:r>
              <a:rPr lang="en-US" sz="7174" spc="-215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Where AI/ML Makes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76656" y="1698635"/>
            <a:ext cx="7680960" cy="953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74"/>
              </a:lnSpc>
            </a:pPr>
            <a:r>
              <a:rPr lang="en-US" sz="7174" spc="-215" b="true">
                <a:solidFill>
                  <a:srgbClr val="73A63C"/>
                </a:solidFill>
                <a:latin typeface="Roboto Bold"/>
                <a:ea typeface="Roboto Bold"/>
                <a:cs typeface="Roboto Bold"/>
                <a:sym typeface="Roboto Bold"/>
              </a:rPr>
              <a:t>SAVORA Smarter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94944" y="3095601"/>
            <a:ext cx="2706624" cy="317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1"/>
              </a:lnSpc>
            </a:pPr>
            <a:r>
              <a:rPr lang="en-US" sz="2371" spc="-71" b="true">
                <a:solidFill>
                  <a:srgbClr val="73A63C"/>
                </a:solidFill>
                <a:latin typeface="Roboto Bold"/>
                <a:ea typeface="Roboto Bold"/>
                <a:cs typeface="Roboto Bold"/>
                <a:sym typeface="Roboto Bold"/>
              </a:rPr>
              <a:t>Demand Prediction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94944" y="3548539"/>
            <a:ext cx="5102352" cy="235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2"/>
              </a:lnSpc>
            </a:pPr>
            <a:r>
              <a:rPr lang="en-US" sz="1762" spc="-5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Forecasts surplus and demand to reduce waste.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4944" y="4247745"/>
            <a:ext cx="4279392" cy="317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1"/>
              </a:lnSpc>
            </a:pPr>
            <a:r>
              <a:rPr lang="en-US" sz="2371" spc="-71" b="true">
                <a:solidFill>
                  <a:srgbClr val="73A63C"/>
                </a:solidFill>
                <a:latin typeface="Roboto Bold"/>
                <a:ea typeface="Roboto Bold"/>
                <a:cs typeface="Roboto Bold"/>
                <a:sym typeface="Roboto Bold"/>
              </a:rPr>
              <a:t>Personalized Recommendation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94944" y="4700683"/>
            <a:ext cx="4828032" cy="235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2"/>
              </a:lnSpc>
            </a:pPr>
            <a:r>
              <a:rPr lang="en-US" sz="1762" spc="-5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Matches users with food options they’ll love.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94944" y="5399889"/>
            <a:ext cx="4974336" cy="317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1"/>
              </a:lnSpc>
            </a:pPr>
            <a:r>
              <a:rPr lang="en-US" sz="2371" spc="-71" b="true">
                <a:solidFill>
                  <a:srgbClr val="73A63C"/>
                </a:solidFill>
                <a:latin typeface="Roboto Bold"/>
                <a:ea typeface="Roboto Bold"/>
                <a:cs typeface="Roboto Bold"/>
                <a:sym typeface="Roboto Bold"/>
              </a:rPr>
              <a:t>Dynamic Discount Recommendation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94944" y="5852827"/>
            <a:ext cx="5010912" cy="235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2"/>
              </a:lnSpc>
            </a:pPr>
            <a:r>
              <a:rPr lang="en-US" sz="1762" spc="-5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Suggests the right discounts, at the right time.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94944" y="6552033"/>
            <a:ext cx="3218688" cy="317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1"/>
              </a:lnSpc>
            </a:pPr>
            <a:r>
              <a:rPr lang="en-US" sz="2371" spc="-71" b="true">
                <a:solidFill>
                  <a:srgbClr val="73A63C"/>
                </a:solidFill>
                <a:latin typeface="Roboto Bold"/>
                <a:ea typeface="Roboto Bold"/>
                <a:cs typeface="Roboto Bold"/>
                <a:sym typeface="Roboto Bold"/>
              </a:rPr>
              <a:t>Food Demand Analysis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94944" y="7004971"/>
            <a:ext cx="4791456" cy="235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2"/>
              </a:lnSpc>
            </a:pPr>
            <a:r>
              <a:rPr lang="en-US" sz="1762" spc="-5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Uncovers trends to guide smarter decisions.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94944" y="7704177"/>
            <a:ext cx="4242816" cy="317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1"/>
              </a:lnSpc>
            </a:pPr>
            <a:r>
              <a:rPr lang="en-US" sz="2371" spc="-71" b="true">
                <a:solidFill>
                  <a:srgbClr val="73A63C"/>
                </a:solidFill>
                <a:latin typeface="Roboto Bold"/>
                <a:ea typeface="Roboto Bold"/>
                <a:cs typeface="Roboto Bold"/>
                <a:sym typeface="Roboto Bold"/>
              </a:rPr>
              <a:t>Availability-Time Prioritization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94944" y="8157115"/>
            <a:ext cx="4736592" cy="235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2"/>
              </a:lnSpc>
            </a:pPr>
            <a:r>
              <a:rPr lang="en-US" sz="1762" spc="-5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Prioritizes what to list, when it matters most.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94944" y="8856321"/>
            <a:ext cx="4279392" cy="317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1"/>
              </a:lnSpc>
            </a:pPr>
            <a:r>
              <a:rPr lang="en-US" sz="2371" spc="-71" b="true">
                <a:solidFill>
                  <a:srgbClr val="73A63C"/>
                </a:solidFill>
                <a:latin typeface="Roboto Bold"/>
                <a:ea typeface="Roboto Bold"/>
                <a:cs typeface="Roboto Bold"/>
                <a:sym typeface="Roboto Bold"/>
              </a:rPr>
              <a:t>Customer Behaviour Analysis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94944" y="9309259"/>
            <a:ext cx="5504688" cy="235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2"/>
              </a:lnSpc>
            </a:pPr>
            <a:r>
              <a:rPr lang="en-US" sz="1762" spc="-5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Learns patterns to improve experience and impact.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6829425" y="3343275"/>
            <a:ext cx="2619375" cy="4800600"/>
          </a:xfrm>
          <a:custGeom>
            <a:avLst/>
            <a:gdLst/>
            <a:ahLst/>
            <a:cxnLst/>
            <a:rect r="r" b="b" t="t" l="l"/>
            <a:pathLst>
              <a:path h="4800600" w="2619375">
                <a:moveTo>
                  <a:pt x="0" y="0"/>
                </a:moveTo>
                <a:lnTo>
                  <a:pt x="2619375" y="0"/>
                </a:lnTo>
                <a:lnTo>
                  <a:pt x="2619375" y="4800600"/>
                </a:lnTo>
                <a:lnTo>
                  <a:pt x="0" y="4800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272" t="-2777" r="-509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7132320" y="3609115"/>
            <a:ext cx="2029968" cy="279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2"/>
              </a:lnSpc>
            </a:pPr>
            <a:r>
              <a:rPr lang="en-US" sz="2002" spc="-60" b="true">
                <a:solidFill>
                  <a:srgbClr val="73A63C"/>
                </a:solidFill>
                <a:latin typeface="Roboto Bold"/>
                <a:ea typeface="Roboto Bold"/>
                <a:cs typeface="Roboto Bold"/>
                <a:sym typeface="Roboto Bold"/>
              </a:rPr>
              <a:t>Restaurant Data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7019925" y="4076700"/>
            <a:ext cx="2238375" cy="1819275"/>
          </a:xfrm>
          <a:custGeom>
            <a:avLst/>
            <a:gdLst/>
            <a:ahLst/>
            <a:cxnLst/>
            <a:rect r="r" b="b" t="t" l="l"/>
            <a:pathLst>
              <a:path h="1819275" w="2238375">
                <a:moveTo>
                  <a:pt x="0" y="0"/>
                </a:moveTo>
                <a:lnTo>
                  <a:pt x="2238375" y="0"/>
                </a:lnTo>
                <a:lnTo>
                  <a:pt x="2238375" y="1819275"/>
                </a:lnTo>
                <a:lnTo>
                  <a:pt x="0" y="18192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553" t="-12041" r="-4680" b="-5759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9363075" y="3905250"/>
            <a:ext cx="1524000" cy="2752725"/>
          </a:xfrm>
          <a:custGeom>
            <a:avLst/>
            <a:gdLst/>
            <a:ahLst/>
            <a:cxnLst/>
            <a:rect r="r" b="b" t="t" l="l"/>
            <a:pathLst>
              <a:path h="2752725" w="1524000">
                <a:moveTo>
                  <a:pt x="0" y="0"/>
                </a:moveTo>
                <a:lnTo>
                  <a:pt x="1524000" y="0"/>
                </a:lnTo>
                <a:lnTo>
                  <a:pt x="1524000" y="2752725"/>
                </a:lnTo>
                <a:lnTo>
                  <a:pt x="0" y="27527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25" t="-1730" r="0" b="-7266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0287000" y="3124200"/>
            <a:ext cx="3990975" cy="4095750"/>
          </a:xfrm>
          <a:custGeom>
            <a:avLst/>
            <a:gdLst/>
            <a:ahLst/>
            <a:cxnLst/>
            <a:rect r="r" b="b" t="t" l="l"/>
            <a:pathLst>
              <a:path h="4095750" w="3990975">
                <a:moveTo>
                  <a:pt x="0" y="0"/>
                </a:moveTo>
                <a:lnTo>
                  <a:pt x="3990975" y="0"/>
                </a:lnTo>
                <a:lnTo>
                  <a:pt x="3990975" y="4095750"/>
                </a:lnTo>
                <a:lnTo>
                  <a:pt x="0" y="40957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431" t="-3023" r="-2386" b="-1627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1905488" y="4877318"/>
            <a:ext cx="859536" cy="953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74"/>
              </a:lnSpc>
            </a:pPr>
            <a:r>
              <a:rPr lang="en-US" b="true" sz="7174" spc="-215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AI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1763375" y="6638925"/>
            <a:ext cx="1181100" cy="1828800"/>
          </a:xfrm>
          <a:custGeom>
            <a:avLst/>
            <a:gdLst/>
            <a:ahLst/>
            <a:cxnLst/>
            <a:rect r="r" b="b" t="t" l="l"/>
            <a:pathLst>
              <a:path h="1828800" w="1181100">
                <a:moveTo>
                  <a:pt x="0" y="0"/>
                </a:moveTo>
                <a:lnTo>
                  <a:pt x="1181100" y="0"/>
                </a:lnTo>
                <a:lnTo>
                  <a:pt x="1181100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9354" t="0" r="-10483" b="-5729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3811250" y="3857625"/>
            <a:ext cx="1647825" cy="2847975"/>
          </a:xfrm>
          <a:custGeom>
            <a:avLst/>
            <a:gdLst/>
            <a:ahLst/>
            <a:cxnLst/>
            <a:rect r="r" b="b" t="t" l="l"/>
            <a:pathLst>
              <a:path h="2847975" w="1647825">
                <a:moveTo>
                  <a:pt x="0" y="0"/>
                </a:moveTo>
                <a:lnTo>
                  <a:pt x="1647825" y="0"/>
                </a:lnTo>
                <a:lnTo>
                  <a:pt x="1647825" y="2847975"/>
                </a:lnTo>
                <a:lnTo>
                  <a:pt x="0" y="28479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5780" t="0" r="0" b="-5351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5430500" y="3343275"/>
            <a:ext cx="2571750" cy="4800600"/>
          </a:xfrm>
          <a:custGeom>
            <a:avLst/>
            <a:gdLst/>
            <a:ahLst/>
            <a:cxnLst/>
            <a:rect r="r" b="b" t="t" l="l"/>
            <a:pathLst>
              <a:path h="4800600" w="2571750">
                <a:moveTo>
                  <a:pt x="0" y="0"/>
                </a:moveTo>
                <a:lnTo>
                  <a:pt x="2571750" y="0"/>
                </a:lnTo>
                <a:lnTo>
                  <a:pt x="2571750" y="4800600"/>
                </a:lnTo>
                <a:lnTo>
                  <a:pt x="0" y="4800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7407" t="-2777" r="-2962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5782544" y="3609115"/>
            <a:ext cx="1901952" cy="279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2"/>
              </a:lnSpc>
            </a:pPr>
            <a:r>
              <a:rPr lang="en-US" sz="2002" spc="-60" b="true">
                <a:solidFill>
                  <a:srgbClr val="73A63C"/>
                </a:solidFill>
                <a:latin typeface="Roboto Bold"/>
                <a:ea typeface="Roboto Bold"/>
                <a:cs typeface="Roboto Bold"/>
                <a:sym typeface="Roboto Bold"/>
              </a:rPr>
              <a:t>Customer Data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5640050" y="4067175"/>
            <a:ext cx="2190750" cy="1828800"/>
          </a:xfrm>
          <a:custGeom>
            <a:avLst/>
            <a:gdLst/>
            <a:ahLst/>
            <a:cxnLst/>
            <a:rect r="r" b="b" t="t" l="l"/>
            <a:pathLst>
              <a:path h="1828800" w="2190750">
                <a:moveTo>
                  <a:pt x="0" y="0"/>
                </a:moveTo>
                <a:lnTo>
                  <a:pt x="2190750" y="0"/>
                </a:lnTo>
                <a:lnTo>
                  <a:pt x="2190750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8695" t="-11458" r="-1304" b="-5729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8410575" y="8353425"/>
            <a:ext cx="8020050" cy="1438275"/>
          </a:xfrm>
          <a:custGeom>
            <a:avLst/>
            <a:gdLst/>
            <a:ahLst/>
            <a:cxnLst/>
            <a:rect r="r" b="b" t="t" l="l"/>
            <a:pathLst>
              <a:path h="1438275" w="8020050">
                <a:moveTo>
                  <a:pt x="0" y="0"/>
                </a:moveTo>
                <a:lnTo>
                  <a:pt x="8020050" y="0"/>
                </a:lnTo>
                <a:lnTo>
                  <a:pt x="8020050" y="1438275"/>
                </a:lnTo>
                <a:lnTo>
                  <a:pt x="0" y="14382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1781" t="0" r="-1543" b="-4635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1119104" y="8709035"/>
            <a:ext cx="2450592" cy="304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4"/>
              </a:lnSpc>
            </a:pPr>
            <a:r>
              <a:rPr lang="en-US" b="true" sz="2224" spc="-66">
                <a:solidFill>
                  <a:srgbClr val="73A63C"/>
                </a:solidFill>
                <a:latin typeface="Roboto Bold"/>
                <a:ea typeface="Roboto Bold"/>
                <a:cs typeface="Roboto Bold"/>
                <a:sym typeface="Roboto Bold"/>
              </a:rPr>
              <a:t>Smarter Outcomes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778240" y="9247537"/>
            <a:ext cx="1133856" cy="235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62"/>
              </a:lnSpc>
            </a:pPr>
            <a:r>
              <a:rPr lang="en-US" sz="1762" spc="-5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Less Waste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497312" y="9247537"/>
            <a:ext cx="1316736" cy="235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62"/>
              </a:lnSpc>
            </a:pPr>
            <a:r>
              <a:rPr lang="en-US" sz="1762" spc="-5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More Savings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252960" y="9247537"/>
            <a:ext cx="1901952" cy="235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62"/>
              </a:lnSpc>
            </a:pPr>
            <a:r>
              <a:rPr lang="en-US" sz="1762" spc="-5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Happier Customers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538960" y="9247537"/>
            <a:ext cx="1572768" cy="235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62"/>
              </a:lnSpc>
            </a:pPr>
            <a:r>
              <a:rPr lang="en-US" sz="1762" spc="-5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Stronger Impact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095744" y="6168426"/>
            <a:ext cx="877824" cy="222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7"/>
              </a:lnSpc>
            </a:pPr>
            <a:r>
              <a:rPr lang="en-US" sz="1617" spc="-4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Inventory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095744" y="6549045"/>
            <a:ext cx="731520" cy="222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7"/>
              </a:lnSpc>
            </a:pPr>
            <a:r>
              <a:rPr lang="en-US" sz="1617" spc="-4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Surplus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095744" y="6929664"/>
            <a:ext cx="658368" cy="222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7"/>
              </a:lnSpc>
            </a:pPr>
            <a:r>
              <a:rPr lang="en-US" sz="1617" spc="-4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Pricing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095744" y="7299996"/>
            <a:ext cx="1024128" cy="222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7"/>
              </a:lnSpc>
            </a:pPr>
            <a:r>
              <a:rPr lang="en-US" sz="1617" spc="-4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Availability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095744" y="7680615"/>
            <a:ext cx="694944" cy="222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7"/>
              </a:lnSpc>
            </a:pPr>
            <a:r>
              <a:rPr lang="en-US" sz="1617" spc="-4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History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5745968" y="6168426"/>
            <a:ext cx="1133856" cy="222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7"/>
              </a:lnSpc>
            </a:pPr>
            <a:r>
              <a:rPr lang="en-US" sz="1617" spc="-4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Preferences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5745968" y="6549045"/>
            <a:ext cx="1627632" cy="222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7"/>
              </a:lnSpc>
            </a:pPr>
            <a:r>
              <a:rPr lang="en-US" sz="1617" spc="-4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Purchase History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5745968" y="6929664"/>
            <a:ext cx="822960" cy="222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7"/>
              </a:lnSpc>
            </a:pPr>
            <a:r>
              <a:rPr lang="en-US" sz="1617" spc="-4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Location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5745968" y="7299996"/>
            <a:ext cx="1225296" cy="222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7"/>
              </a:lnSpc>
            </a:pPr>
            <a:r>
              <a:rPr lang="en-US" sz="1617" spc="-4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Engagement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5745968" y="7680615"/>
            <a:ext cx="950976" cy="222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7"/>
              </a:lnSpc>
            </a:pPr>
            <a:r>
              <a:rPr lang="en-US" sz="1617" spc="-4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Feedback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22960" y="1728447"/>
            <a:ext cx="7424928" cy="1129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56"/>
              </a:lnSpc>
            </a:pPr>
            <a:r>
              <a:rPr lang="en-US" sz="8456" spc="-338" b="true">
                <a:solidFill>
                  <a:srgbClr val="7B9F49"/>
                </a:solidFill>
                <a:latin typeface="Roboto Bold"/>
                <a:ea typeface="Roboto Bold"/>
                <a:cs typeface="Roboto Bold"/>
                <a:sym typeface="Roboto Bold"/>
              </a:rPr>
              <a:t>AI Requirement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22960" y="3161151"/>
            <a:ext cx="7022592" cy="440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7"/>
              </a:lnSpc>
            </a:pPr>
            <a:r>
              <a:rPr lang="en-US" sz="2519" spc="-1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AI-Discovered Insight Driving Better Food Rescue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22960" y="3805086"/>
            <a:ext cx="3694176" cy="798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7"/>
              </a:lnSpc>
            </a:pPr>
            <a:r>
              <a:rPr lang="en-US" sz="2298" spc="-9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AI finds meaningful patterns beyond programmed rules.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22960" y="4974455"/>
            <a:ext cx="6839712" cy="1062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8"/>
              </a:lnSpc>
            </a:pPr>
            <a:r>
              <a:rPr lang="en-US" sz="2034" spc="-8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Surplus meals listed between </a:t>
            </a:r>
            <a:r>
              <a:rPr lang="en-US" sz="2034" spc="-81">
                <a:solidFill>
                  <a:srgbClr val="7B9F49"/>
                </a:solidFill>
                <a:latin typeface="Roboto"/>
                <a:ea typeface="Roboto"/>
                <a:cs typeface="Roboto"/>
                <a:sym typeface="Roboto"/>
              </a:rPr>
              <a:t>7:00 PM</a:t>
            </a:r>
            <a:r>
              <a:rPr lang="en-US" sz="2034" spc="-8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lang="en-US" sz="2034" spc="-81">
                <a:solidFill>
                  <a:srgbClr val="7B9F49"/>
                </a:solidFill>
                <a:latin typeface="Roboto"/>
                <a:ea typeface="Roboto"/>
                <a:cs typeface="Roboto"/>
                <a:sym typeface="Roboto"/>
              </a:rPr>
              <a:t>8:00 PM</a:t>
            </a:r>
            <a:r>
              <a:rPr lang="en-US" sz="2034" spc="-8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with </a:t>
            </a:r>
            <a:r>
              <a:rPr lang="en-US" sz="2034" spc="-81">
                <a:solidFill>
                  <a:srgbClr val="7B9F49"/>
                </a:solidFill>
                <a:latin typeface="Roboto"/>
                <a:ea typeface="Roboto"/>
                <a:cs typeface="Roboto"/>
                <a:sym typeface="Roboto"/>
              </a:rPr>
              <a:t>30–40% discounts</a:t>
            </a:r>
            <a:r>
              <a:rPr lang="en-US" sz="2034" spc="-8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get significantly more orders than similar meals listed later.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504825" y="6534150"/>
            <a:ext cx="2190750" cy="3114675"/>
          </a:xfrm>
          <a:custGeom>
            <a:avLst/>
            <a:gdLst/>
            <a:ahLst/>
            <a:cxnLst/>
            <a:rect r="r" b="b" t="t" l="l"/>
            <a:pathLst>
              <a:path h="3114675" w="2190750">
                <a:moveTo>
                  <a:pt x="0" y="0"/>
                </a:moveTo>
                <a:lnTo>
                  <a:pt x="2190750" y="0"/>
                </a:lnTo>
                <a:lnTo>
                  <a:pt x="2190750" y="3114675"/>
                </a:lnTo>
                <a:lnTo>
                  <a:pt x="0" y="31146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478" t="-3363" r="-6521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49808" y="6665559"/>
            <a:ext cx="585216" cy="738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4"/>
              </a:lnSpc>
            </a:pPr>
            <a:r>
              <a:rPr lang="en-US" sz="4317" spc="-172" b="true">
                <a:solidFill>
                  <a:srgbClr val="7B9F49"/>
                </a:solidFill>
                <a:latin typeface="Roboto Bold"/>
                <a:ea typeface="Roboto Bold"/>
                <a:cs typeface="Roboto Bold"/>
                <a:sym typeface="Roboto Bold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68096" y="7473857"/>
            <a:ext cx="621792" cy="373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1"/>
              </a:lnSpc>
            </a:pPr>
            <a:r>
              <a:rPr lang="en-US" sz="2172" spc="-86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Data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68096" y="8046625"/>
            <a:ext cx="1481328" cy="1212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7"/>
              </a:lnSpc>
            </a:pPr>
            <a:r>
              <a:rPr lang="en-US" sz="1762" spc="-7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Surplus listings across time, discounts, and orders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2886075" y="6524625"/>
            <a:ext cx="2209800" cy="3124200"/>
          </a:xfrm>
          <a:custGeom>
            <a:avLst/>
            <a:gdLst/>
            <a:ahLst/>
            <a:cxnLst/>
            <a:rect r="r" b="b" t="t" l="l"/>
            <a:pathLst>
              <a:path h="3124200" w="2209800">
                <a:moveTo>
                  <a:pt x="0" y="0"/>
                </a:moveTo>
                <a:lnTo>
                  <a:pt x="2209800" y="0"/>
                </a:lnTo>
                <a:lnTo>
                  <a:pt x="2209800" y="3124200"/>
                </a:lnTo>
                <a:lnTo>
                  <a:pt x="0" y="31242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586" t="-3048" r="-6034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145536" y="6643682"/>
            <a:ext cx="658368" cy="772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57"/>
              </a:lnSpc>
            </a:pPr>
            <a:r>
              <a:rPr lang="en-US" sz="4469" spc="-178" b="true">
                <a:solidFill>
                  <a:srgbClr val="7B9F49"/>
                </a:solidFill>
                <a:latin typeface="Roboto Bold"/>
                <a:ea typeface="Roboto Bold"/>
                <a:cs typeface="Roboto Bold"/>
                <a:sym typeface="Roboto Bold"/>
              </a:rPr>
              <a:t>02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163824" y="7473857"/>
            <a:ext cx="1316736" cy="373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1"/>
              </a:lnSpc>
            </a:pPr>
            <a:r>
              <a:rPr lang="en-US" sz="2172" spc="-86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AI Analysis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163824" y="8044720"/>
            <a:ext cx="1609344" cy="907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7"/>
              </a:lnSpc>
            </a:pPr>
            <a:r>
              <a:rPr lang="en-US" sz="1762" spc="-7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Detects patterns beyond human observation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5286375" y="6534150"/>
            <a:ext cx="2200275" cy="3114675"/>
          </a:xfrm>
          <a:custGeom>
            <a:avLst/>
            <a:gdLst/>
            <a:ahLst/>
            <a:cxnLst/>
            <a:rect r="r" b="b" t="t" l="l"/>
            <a:pathLst>
              <a:path h="3114675" w="2200275">
                <a:moveTo>
                  <a:pt x="0" y="0"/>
                </a:moveTo>
                <a:lnTo>
                  <a:pt x="2200275" y="0"/>
                </a:lnTo>
                <a:lnTo>
                  <a:pt x="2200275" y="3114675"/>
                </a:lnTo>
                <a:lnTo>
                  <a:pt x="0" y="31146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030" t="-3363" r="-606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522976" y="6643682"/>
            <a:ext cx="694944" cy="772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57"/>
              </a:lnSpc>
            </a:pPr>
            <a:r>
              <a:rPr lang="en-US" sz="4469" spc="-178" b="true">
                <a:solidFill>
                  <a:srgbClr val="7B9F49"/>
                </a:solidFill>
                <a:latin typeface="Roboto Bold"/>
                <a:ea typeface="Roboto Bold"/>
                <a:cs typeface="Roboto Bold"/>
                <a:sym typeface="Roboto Bold"/>
              </a:rPr>
              <a:t>03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541264" y="7473857"/>
            <a:ext cx="877824" cy="373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1"/>
              </a:lnSpc>
            </a:pPr>
            <a:r>
              <a:rPr lang="en-US" sz="2172" spc="-86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Pattern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541264" y="8484775"/>
            <a:ext cx="1737360" cy="345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7"/>
              </a:lnSpc>
            </a:pPr>
            <a:r>
              <a:rPr lang="en-US" sz="1012" spc="-4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Prime time listings with 30–40% discounts drive more orders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7677150" y="6534150"/>
            <a:ext cx="2495550" cy="3114675"/>
          </a:xfrm>
          <a:custGeom>
            <a:avLst/>
            <a:gdLst/>
            <a:ahLst/>
            <a:cxnLst/>
            <a:rect r="r" b="b" t="t" l="l"/>
            <a:pathLst>
              <a:path h="3114675" w="2495550">
                <a:moveTo>
                  <a:pt x="0" y="0"/>
                </a:moveTo>
                <a:lnTo>
                  <a:pt x="2495550" y="0"/>
                </a:lnTo>
                <a:lnTo>
                  <a:pt x="2495550" y="3114675"/>
                </a:lnTo>
                <a:lnTo>
                  <a:pt x="0" y="31146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290" t="-3363" r="-2671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7900416" y="6643682"/>
            <a:ext cx="694944" cy="772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57"/>
              </a:lnSpc>
            </a:pPr>
            <a:r>
              <a:rPr lang="en-US" sz="4469" spc="-178" b="true">
                <a:solidFill>
                  <a:srgbClr val="7B9F49"/>
                </a:solidFill>
                <a:latin typeface="Roboto Bold"/>
                <a:ea typeface="Roboto Bold"/>
                <a:cs typeface="Roboto Bold"/>
                <a:sym typeface="Roboto Bold"/>
              </a:rPr>
              <a:t>04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918704" y="7543526"/>
            <a:ext cx="2048256" cy="578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8"/>
              </a:lnSpc>
            </a:pPr>
            <a:r>
              <a:rPr lang="en-US" sz="2053" spc="-82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Better Recommendations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918704" y="8332756"/>
            <a:ext cx="1737360" cy="907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7"/>
              </a:lnSpc>
            </a:pPr>
            <a:r>
              <a:rPr lang="en-US" sz="1762" spc="-7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Optimize listing time and discount strategy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0353675" y="6524625"/>
            <a:ext cx="2143125" cy="3124200"/>
          </a:xfrm>
          <a:custGeom>
            <a:avLst/>
            <a:gdLst/>
            <a:ahLst/>
            <a:cxnLst/>
            <a:rect r="r" b="b" t="t" l="l"/>
            <a:pathLst>
              <a:path h="3124200" w="2143125">
                <a:moveTo>
                  <a:pt x="0" y="0"/>
                </a:moveTo>
                <a:lnTo>
                  <a:pt x="2143125" y="0"/>
                </a:lnTo>
                <a:lnTo>
                  <a:pt x="2143125" y="3124200"/>
                </a:lnTo>
                <a:lnTo>
                  <a:pt x="0" y="31242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777" t="-3048" r="-6222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0607040" y="6643682"/>
            <a:ext cx="694944" cy="772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57"/>
              </a:lnSpc>
            </a:pPr>
            <a:r>
              <a:rPr lang="en-US" sz="4469" spc="-178" b="true">
                <a:solidFill>
                  <a:srgbClr val="7B9F49"/>
                </a:solidFill>
                <a:latin typeface="Roboto Bold"/>
                <a:ea typeface="Roboto Bold"/>
                <a:cs typeface="Roboto Bold"/>
                <a:sym typeface="Roboto Bold"/>
              </a:rPr>
              <a:t>05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625328" y="7543377"/>
            <a:ext cx="1499616" cy="578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4"/>
              </a:lnSpc>
            </a:pPr>
            <a:r>
              <a:rPr lang="en-US" sz="2076" spc="-83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Increased Food Rescur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625328" y="8332756"/>
            <a:ext cx="1426464" cy="907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7"/>
              </a:lnSpc>
            </a:pPr>
            <a:r>
              <a:rPr lang="en-US" sz="1762" spc="-7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More orders, less waste, greater impact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2619375" y="7581900"/>
            <a:ext cx="314325" cy="295275"/>
          </a:xfrm>
          <a:custGeom>
            <a:avLst/>
            <a:gdLst/>
            <a:ahLst/>
            <a:cxnLst/>
            <a:rect r="r" b="b" t="t" l="l"/>
            <a:pathLst>
              <a:path h="295275" w="314325">
                <a:moveTo>
                  <a:pt x="0" y="0"/>
                </a:moveTo>
                <a:lnTo>
                  <a:pt x="314325" y="0"/>
                </a:lnTo>
                <a:lnTo>
                  <a:pt x="314325" y="295275"/>
                </a:lnTo>
                <a:lnTo>
                  <a:pt x="0" y="2952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72727" t="-29032" r="-36363" b="-19354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5000625" y="7581900"/>
            <a:ext cx="323850" cy="304800"/>
          </a:xfrm>
          <a:custGeom>
            <a:avLst/>
            <a:gdLst/>
            <a:ahLst/>
            <a:cxnLst/>
            <a:rect r="r" b="b" t="t" l="l"/>
            <a:pathLst>
              <a:path h="304800" w="323850">
                <a:moveTo>
                  <a:pt x="0" y="0"/>
                </a:moveTo>
                <a:lnTo>
                  <a:pt x="323850" y="0"/>
                </a:lnTo>
                <a:lnTo>
                  <a:pt x="32385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28125" r="-38235" b="-15625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7400925" y="7581900"/>
            <a:ext cx="323850" cy="295275"/>
          </a:xfrm>
          <a:custGeom>
            <a:avLst/>
            <a:gdLst/>
            <a:ahLst/>
            <a:cxnLst/>
            <a:rect r="r" b="b" t="t" l="l"/>
            <a:pathLst>
              <a:path h="295275" w="323850">
                <a:moveTo>
                  <a:pt x="0" y="0"/>
                </a:moveTo>
                <a:lnTo>
                  <a:pt x="323850" y="0"/>
                </a:lnTo>
                <a:lnTo>
                  <a:pt x="323850" y="295275"/>
                </a:lnTo>
                <a:lnTo>
                  <a:pt x="0" y="2952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67647" t="-29032" r="-35294" b="-19354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0067925" y="7581900"/>
            <a:ext cx="333375" cy="314325"/>
          </a:xfrm>
          <a:custGeom>
            <a:avLst/>
            <a:gdLst/>
            <a:ahLst/>
            <a:cxnLst/>
            <a:rect r="r" b="b" t="t" l="l"/>
            <a:pathLst>
              <a:path h="314325" w="333375">
                <a:moveTo>
                  <a:pt x="0" y="0"/>
                </a:moveTo>
                <a:lnTo>
                  <a:pt x="333375" y="0"/>
                </a:lnTo>
                <a:lnTo>
                  <a:pt x="333375" y="314325"/>
                </a:lnTo>
                <a:lnTo>
                  <a:pt x="0" y="3143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17142" t="-27272" r="-17142" b="-12121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2925425" y="1524000"/>
            <a:ext cx="4800600" cy="8124825"/>
          </a:xfrm>
          <a:custGeom>
            <a:avLst/>
            <a:gdLst/>
            <a:ahLst/>
            <a:cxnLst/>
            <a:rect r="r" b="b" t="t" l="l"/>
            <a:pathLst>
              <a:path h="8124825" w="4800600">
                <a:moveTo>
                  <a:pt x="0" y="0"/>
                </a:moveTo>
                <a:lnTo>
                  <a:pt x="4800600" y="0"/>
                </a:lnTo>
                <a:lnTo>
                  <a:pt x="4800600" y="8124825"/>
                </a:lnTo>
                <a:lnTo>
                  <a:pt x="0" y="81248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1785" t="-351" r="-2777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3277088" y="2018729"/>
            <a:ext cx="3858768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7"/>
              </a:lnSpc>
            </a:pPr>
            <a:r>
              <a:rPr lang="en-US" sz="2298" spc="-91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Order increase by optimized timing and discount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277088" y="2817395"/>
            <a:ext cx="2048256" cy="1103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8"/>
              </a:lnSpc>
            </a:pPr>
            <a:r>
              <a:rPr lang="en-US" sz="6427" spc="-257" b="true">
                <a:solidFill>
                  <a:srgbClr val="7B9F49"/>
                </a:solidFill>
                <a:latin typeface="Roboto Bold"/>
                <a:ea typeface="Roboto Bold"/>
                <a:cs typeface="Roboto Bold"/>
                <a:sym typeface="Roboto Bold"/>
              </a:rPr>
              <a:t>+68%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277088" y="3904268"/>
            <a:ext cx="1975104" cy="373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1"/>
              </a:lnSpc>
            </a:pPr>
            <a:r>
              <a:rPr lang="en-US" b="true" sz="2172" spc="-86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MORE ORDERS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13725525" y="5876925"/>
            <a:ext cx="771525" cy="2057400"/>
          </a:xfrm>
          <a:custGeom>
            <a:avLst/>
            <a:gdLst/>
            <a:ahLst/>
            <a:cxnLst/>
            <a:rect r="r" b="b" t="t" l="l"/>
            <a:pathLst>
              <a:path h="2057400" w="771525">
                <a:moveTo>
                  <a:pt x="0" y="0"/>
                </a:moveTo>
                <a:lnTo>
                  <a:pt x="771525" y="0"/>
                </a:lnTo>
                <a:lnTo>
                  <a:pt x="771525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1234" t="-4629" r="-12345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6154400" y="4591050"/>
            <a:ext cx="771525" cy="3343275"/>
          </a:xfrm>
          <a:custGeom>
            <a:avLst/>
            <a:gdLst/>
            <a:ahLst/>
            <a:cxnLst/>
            <a:rect r="r" b="b" t="t" l="l"/>
            <a:pathLst>
              <a:path h="3343275" w="771525">
                <a:moveTo>
                  <a:pt x="0" y="0"/>
                </a:moveTo>
                <a:lnTo>
                  <a:pt x="771525" y="0"/>
                </a:lnTo>
                <a:lnTo>
                  <a:pt x="771525" y="3343275"/>
                </a:lnTo>
                <a:lnTo>
                  <a:pt x="0" y="33432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6172" t="-2849" r="-7407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16258032" y="4119967"/>
            <a:ext cx="530352" cy="416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0"/>
              </a:lnSpc>
            </a:pPr>
            <a:r>
              <a:rPr lang="en-US" b="true" sz="2371" spc="-94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168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13277850" y="7905750"/>
            <a:ext cx="4114800" cy="28575"/>
          </a:xfrm>
          <a:custGeom>
            <a:avLst/>
            <a:gdLst/>
            <a:ahLst/>
            <a:cxnLst/>
            <a:rect r="r" b="b" t="t" l="l"/>
            <a:pathLst>
              <a:path h="28575" w="4114800">
                <a:moveTo>
                  <a:pt x="0" y="0"/>
                </a:moveTo>
                <a:lnTo>
                  <a:pt x="4114800" y="0"/>
                </a:lnTo>
                <a:lnTo>
                  <a:pt x="4114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5324" t="-666666" r="-694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4630400" y="4714875"/>
            <a:ext cx="1247775" cy="952500"/>
          </a:xfrm>
          <a:custGeom>
            <a:avLst/>
            <a:gdLst/>
            <a:ahLst/>
            <a:cxnLst/>
            <a:rect r="r" b="b" t="t" l="l"/>
            <a:pathLst>
              <a:path h="952500" w="1247775">
                <a:moveTo>
                  <a:pt x="0" y="0"/>
                </a:moveTo>
                <a:lnTo>
                  <a:pt x="1247775" y="0"/>
                </a:lnTo>
                <a:lnTo>
                  <a:pt x="1247775" y="952500"/>
                </a:ln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-3816" t="0" r="-1526" b="-1300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13716000" y="8116729"/>
            <a:ext cx="768096" cy="290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2"/>
              </a:lnSpc>
            </a:pPr>
            <a:r>
              <a:rPr lang="en-US" b="true" sz="1687" spc="-67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Baseline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5654528" y="8169831"/>
            <a:ext cx="1700784" cy="489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8"/>
              </a:lnSpc>
            </a:pPr>
            <a:r>
              <a:rPr lang="en-US" b="true" sz="1762" spc="-7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Optimized Timing &amp; Discount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277088" y="9090184"/>
            <a:ext cx="3017520" cy="298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7"/>
              </a:lnSpc>
            </a:pPr>
            <a:r>
              <a:rPr lang="en-US" sz="1762" spc="-7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Orders indexed (Baseline = 100)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822960" y="699747"/>
            <a:ext cx="6656832" cy="1129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56"/>
              </a:lnSpc>
            </a:pPr>
            <a:r>
              <a:rPr lang="en-US" sz="8456" spc="-338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Our “Strange”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12064" y="1672857"/>
            <a:ext cx="8339328" cy="1035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64"/>
              </a:lnSpc>
            </a:pPr>
            <a:r>
              <a:rPr lang="en-US" sz="7764" spc="-310" b="true">
                <a:solidFill>
                  <a:srgbClr val="7DCD5A"/>
                </a:solidFill>
                <a:latin typeface="Roboto Bold"/>
                <a:ea typeface="Roboto Bold"/>
                <a:cs typeface="Roboto Bold"/>
                <a:sym typeface="Roboto Bold"/>
              </a:rPr>
              <a:t>System Architecture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12064" y="2717221"/>
            <a:ext cx="4864608" cy="464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3"/>
              </a:lnSpc>
            </a:pPr>
            <a:r>
              <a:rPr lang="en-US" sz="2709" spc="-54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Full-Stack Architecture Overview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12064" y="4219292"/>
            <a:ext cx="4864608" cy="2389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8"/>
              </a:lnSpc>
            </a:pPr>
            <a:r>
              <a:rPr lang="en-US" sz="3427" spc="-68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 smart, scalable platform that </a:t>
            </a:r>
            <a:r>
              <a:rPr lang="en-US" sz="3427" spc="-68" b="true">
                <a:solidFill>
                  <a:srgbClr val="7DCD5A"/>
                </a:solidFill>
                <a:latin typeface="Roboto Bold"/>
                <a:ea typeface="Roboto Bold"/>
                <a:cs typeface="Roboto Bold"/>
                <a:sym typeface="Roboto Bold"/>
              </a:rPr>
              <a:t>connects surplus food with people who need it.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9220200" y="838200"/>
            <a:ext cx="5153025" cy="1200150"/>
          </a:xfrm>
          <a:custGeom>
            <a:avLst/>
            <a:gdLst/>
            <a:ahLst/>
            <a:cxnLst/>
            <a:rect r="r" b="b" t="t" l="l"/>
            <a:pathLst>
              <a:path h="1200150" w="5153025">
                <a:moveTo>
                  <a:pt x="0" y="0"/>
                </a:moveTo>
                <a:lnTo>
                  <a:pt x="5153025" y="0"/>
                </a:lnTo>
                <a:lnTo>
                  <a:pt x="5153025" y="1200150"/>
                </a:lnTo>
                <a:lnTo>
                  <a:pt x="0" y="12001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78" t="-16666" r="0" b="-873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04704" y="970020"/>
            <a:ext cx="3218688" cy="440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7"/>
              </a:lnSpc>
            </a:pPr>
            <a:r>
              <a:rPr lang="en-US" b="true" sz="2519" spc="-5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Customer / Restaurant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332720" y="1443136"/>
            <a:ext cx="2999232" cy="358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3"/>
              </a:lnSpc>
            </a:pPr>
            <a:r>
              <a:rPr lang="en-US" sz="2002" spc="-4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Users and food businesses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1668125" y="1990725"/>
            <a:ext cx="314325" cy="381000"/>
          </a:xfrm>
          <a:custGeom>
            <a:avLst/>
            <a:gdLst/>
            <a:ahLst/>
            <a:cxnLst/>
            <a:rect r="r" b="b" t="t" l="l"/>
            <a:pathLst>
              <a:path h="381000" w="314325">
                <a:moveTo>
                  <a:pt x="0" y="0"/>
                </a:moveTo>
                <a:lnTo>
                  <a:pt x="314325" y="0"/>
                </a:lnTo>
                <a:lnTo>
                  <a:pt x="3143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2424" t="-17500" r="0" b="-5250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220200" y="2352675"/>
            <a:ext cx="5153025" cy="1209675"/>
          </a:xfrm>
          <a:custGeom>
            <a:avLst/>
            <a:gdLst/>
            <a:ahLst/>
            <a:cxnLst/>
            <a:rect r="r" b="b" t="t" l="l"/>
            <a:pathLst>
              <a:path h="1209675" w="5153025">
                <a:moveTo>
                  <a:pt x="0" y="0"/>
                </a:moveTo>
                <a:lnTo>
                  <a:pt x="5153025" y="0"/>
                </a:lnTo>
                <a:lnTo>
                  <a:pt x="5153025" y="1209675"/>
                </a:lnTo>
                <a:lnTo>
                  <a:pt x="0" y="12096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478" t="0" r="0" b="-7086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137392" y="2492496"/>
            <a:ext cx="1298448" cy="440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7"/>
              </a:lnSpc>
            </a:pPr>
            <a:r>
              <a:rPr lang="en-US" b="true" sz="2519" spc="-50">
                <a:solidFill>
                  <a:srgbClr val="7DCD5A"/>
                </a:solidFill>
                <a:latin typeface="Roboto Bold"/>
                <a:ea typeface="Roboto Bold"/>
                <a:cs typeface="Roboto Bold"/>
                <a:sym typeface="Roboto Bold"/>
              </a:rPr>
              <a:t>Frontend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351008" y="2979334"/>
            <a:ext cx="2871216" cy="34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1"/>
              </a:lnSpc>
            </a:pPr>
            <a:r>
              <a:rPr lang="en-US" sz="1958" spc="-3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React.js / HTML / CSS / JS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1668125" y="3524250"/>
            <a:ext cx="314325" cy="371475"/>
          </a:xfrm>
          <a:custGeom>
            <a:avLst/>
            <a:gdLst/>
            <a:ahLst/>
            <a:cxnLst/>
            <a:rect r="r" b="b" t="t" l="l"/>
            <a:pathLst>
              <a:path h="371475" w="314325">
                <a:moveTo>
                  <a:pt x="0" y="0"/>
                </a:moveTo>
                <a:lnTo>
                  <a:pt x="314325" y="0"/>
                </a:lnTo>
                <a:lnTo>
                  <a:pt x="314325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2424" t="-25641" r="0" b="-48717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220200" y="3867150"/>
            <a:ext cx="5153025" cy="1209675"/>
          </a:xfrm>
          <a:custGeom>
            <a:avLst/>
            <a:gdLst/>
            <a:ahLst/>
            <a:cxnLst/>
            <a:rect r="r" b="b" t="t" l="l"/>
            <a:pathLst>
              <a:path h="1209675" w="5153025">
                <a:moveTo>
                  <a:pt x="0" y="0"/>
                </a:moveTo>
                <a:lnTo>
                  <a:pt x="5153025" y="0"/>
                </a:lnTo>
                <a:lnTo>
                  <a:pt x="5153025" y="1209675"/>
                </a:lnTo>
                <a:lnTo>
                  <a:pt x="0" y="12096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478" t="-787" r="0" b="-5511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881360" y="4014972"/>
            <a:ext cx="1847088" cy="440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7"/>
              </a:lnSpc>
            </a:pPr>
            <a:r>
              <a:rPr lang="en-US" b="true" sz="2519" spc="-50">
                <a:solidFill>
                  <a:srgbClr val="7DCD5A"/>
                </a:solidFill>
                <a:latin typeface="Roboto Bold"/>
                <a:ea typeface="Roboto Bold"/>
                <a:cs typeface="Roboto Bold"/>
                <a:sym typeface="Roboto Bold"/>
              </a:rPr>
              <a:t>Backend API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131552" y="4488088"/>
            <a:ext cx="3401568" cy="358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3"/>
              </a:lnSpc>
            </a:pPr>
            <a:r>
              <a:rPr lang="en-US" sz="2002" spc="-4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Python (Flask/FastAPI/Django)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1668125" y="5038725"/>
            <a:ext cx="314325" cy="371475"/>
          </a:xfrm>
          <a:custGeom>
            <a:avLst/>
            <a:gdLst/>
            <a:ahLst/>
            <a:cxnLst/>
            <a:rect r="r" b="b" t="t" l="l"/>
            <a:pathLst>
              <a:path h="371475" w="314325">
                <a:moveTo>
                  <a:pt x="0" y="0"/>
                </a:moveTo>
                <a:lnTo>
                  <a:pt x="314325" y="0"/>
                </a:lnTo>
                <a:lnTo>
                  <a:pt x="314325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42424" t="-30769" r="0" b="-43589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220200" y="5381625"/>
            <a:ext cx="5153025" cy="1228725"/>
          </a:xfrm>
          <a:custGeom>
            <a:avLst/>
            <a:gdLst/>
            <a:ahLst/>
            <a:cxnLst/>
            <a:rect r="r" b="b" t="t" l="l"/>
            <a:pathLst>
              <a:path h="1228725" w="5153025">
                <a:moveTo>
                  <a:pt x="0" y="0"/>
                </a:moveTo>
                <a:lnTo>
                  <a:pt x="5153025" y="0"/>
                </a:lnTo>
                <a:lnTo>
                  <a:pt x="5153025" y="1228725"/>
                </a:lnTo>
                <a:lnTo>
                  <a:pt x="0" y="12287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478" t="-2325" r="0" b="-310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1064240" y="5537448"/>
            <a:ext cx="1426464" cy="440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7"/>
              </a:lnSpc>
            </a:pPr>
            <a:r>
              <a:rPr lang="en-US" b="true" sz="2519" spc="-50">
                <a:solidFill>
                  <a:srgbClr val="7DCD5A"/>
                </a:solidFill>
                <a:latin typeface="Roboto Bold"/>
                <a:ea typeface="Roboto Bold"/>
                <a:cs typeface="Roboto Bold"/>
                <a:sym typeface="Roboto Bold"/>
              </a:rPr>
              <a:t>Database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735056" y="6010564"/>
            <a:ext cx="2139696" cy="358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3"/>
              </a:lnSpc>
            </a:pPr>
            <a:r>
              <a:rPr lang="en-US" sz="2002" spc="-4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MySQL / MongoDB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1668125" y="6572250"/>
            <a:ext cx="314325" cy="400050"/>
          </a:xfrm>
          <a:custGeom>
            <a:avLst/>
            <a:gdLst/>
            <a:ahLst/>
            <a:cxnLst/>
            <a:rect r="r" b="b" t="t" l="l"/>
            <a:pathLst>
              <a:path h="400050" w="314325">
                <a:moveTo>
                  <a:pt x="0" y="0"/>
                </a:moveTo>
                <a:lnTo>
                  <a:pt x="314325" y="0"/>
                </a:lnTo>
                <a:lnTo>
                  <a:pt x="314325" y="400050"/>
                </a:lnTo>
                <a:lnTo>
                  <a:pt x="0" y="4000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42424" t="-35714" r="0" b="-2619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220200" y="6953250"/>
            <a:ext cx="5153025" cy="1190625"/>
          </a:xfrm>
          <a:custGeom>
            <a:avLst/>
            <a:gdLst/>
            <a:ahLst/>
            <a:cxnLst/>
            <a:rect r="r" b="b" t="t" l="l"/>
            <a:pathLst>
              <a:path h="1190625" w="5153025">
                <a:moveTo>
                  <a:pt x="0" y="0"/>
                </a:moveTo>
                <a:lnTo>
                  <a:pt x="5153025" y="0"/>
                </a:lnTo>
                <a:lnTo>
                  <a:pt x="5153025" y="1190625"/>
                </a:lnTo>
                <a:lnTo>
                  <a:pt x="0" y="11906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1478" t="-800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0863072" y="7111359"/>
            <a:ext cx="1865376" cy="440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7"/>
              </a:lnSpc>
            </a:pPr>
            <a:r>
              <a:rPr lang="en-US" b="true" sz="2519" spc="-50">
                <a:solidFill>
                  <a:srgbClr val="7DCD5A"/>
                </a:solidFill>
                <a:latin typeface="Roboto Bold"/>
                <a:ea typeface="Roboto Bold"/>
                <a:cs typeface="Roboto Bold"/>
                <a:sym typeface="Roboto Bold"/>
              </a:rPr>
              <a:t>AI/ML Engine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546336" y="7584475"/>
            <a:ext cx="4498848" cy="358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3"/>
              </a:lnSpc>
            </a:pPr>
            <a:r>
              <a:rPr lang="en-US" sz="2002" spc="-4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Python + Pandas + NumPy + Scikit-learn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1658600" y="8143875"/>
            <a:ext cx="323850" cy="428625"/>
          </a:xfrm>
          <a:custGeom>
            <a:avLst/>
            <a:gdLst/>
            <a:ahLst/>
            <a:cxnLst/>
            <a:rect r="r" b="b" t="t" l="l"/>
            <a:pathLst>
              <a:path h="428625" w="323850">
                <a:moveTo>
                  <a:pt x="0" y="0"/>
                </a:moveTo>
                <a:lnTo>
                  <a:pt x="323850" y="0"/>
                </a:lnTo>
                <a:lnTo>
                  <a:pt x="3238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38235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9220200" y="8572500"/>
            <a:ext cx="5153025" cy="1162050"/>
          </a:xfrm>
          <a:custGeom>
            <a:avLst/>
            <a:gdLst/>
            <a:ahLst/>
            <a:cxnLst/>
            <a:rect r="r" b="b" t="t" l="l"/>
            <a:pathLst>
              <a:path h="1162050" w="5153025">
                <a:moveTo>
                  <a:pt x="0" y="0"/>
                </a:moveTo>
                <a:lnTo>
                  <a:pt x="5153025" y="0"/>
                </a:lnTo>
                <a:lnTo>
                  <a:pt x="5153025" y="1162050"/>
                </a:lnTo>
                <a:lnTo>
                  <a:pt x="0" y="11620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1478" t="0" r="0" b="-10655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9436608" y="8746906"/>
            <a:ext cx="4718304" cy="358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3"/>
              </a:lnSpc>
            </a:pPr>
            <a:r>
              <a:rPr lang="en-US" b="true" sz="2002" spc="-40">
                <a:solidFill>
                  <a:srgbClr val="171717"/>
                </a:solidFill>
                <a:latin typeface="Roboto Bold"/>
                <a:ea typeface="Roboto Bold"/>
                <a:cs typeface="Roboto Bold"/>
                <a:sym typeface="Roboto Bold"/>
              </a:rPr>
              <a:t>Recommendations, Predictions, Analytics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113264" y="9193054"/>
            <a:ext cx="3401568" cy="298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67"/>
              </a:lnSpc>
            </a:pPr>
            <a:r>
              <a:rPr lang="en-US" sz="1762" spc="-35">
                <a:solidFill>
                  <a:srgbClr val="171717"/>
                </a:solidFill>
                <a:latin typeface="Roboto"/>
                <a:ea typeface="Roboto"/>
                <a:cs typeface="Roboto"/>
                <a:sym typeface="Roboto"/>
              </a:rPr>
              <a:t>Smarter matches, better impact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5297150" y="1524000"/>
            <a:ext cx="2705100" cy="7372350"/>
          </a:xfrm>
          <a:custGeom>
            <a:avLst/>
            <a:gdLst/>
            <a:ahLst/>
            <a:cxnLst/>
            <a:rect r="r" b="b" t="t" l="l"/>
            <a:pathLst>
              <a:path h="7372350" w="2705100">
                <a:moveTo>
                  <a:pt x="0" y="0"/>
                </a:moveTo>
                <a:lnTo>
                  <a:pt x="2705100" y="0"/>
                </a:lnTo>
                <a:lnTo>
                  <a:pt x="2705100" y="7372350"/>
                </a:lnTo>
                <a:lnTo>
                  <a:pt x="0" y="73723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2112" t="-387" r="-2816" b="-1421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5508224" y="1918877"/>
            <a:ext cx="2194560" cy="373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1"/>
              </a:lnSpc>
            </a:pPr>
            <a:r>
              <a:rPr lang="en-US" b="true" sz="2172" spc="-43">
                <a:solidFill>
                  <a:srgbClr val="7DCD5A"/>
                </a:solidFill>
                <a:latin typeface="Roboto Bold"/>
                <a:ea typeface="Roboto Bold"/>
                <a:cs typeface="Roboto Bold"/>
                <a:sym typeface="Roboto Bold"/>
              </a:rPr>
              <a:t>Support Services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5800832" y="3010674"/>
            <a:ext cx="1572768" cy="350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0"/>
              </a:lnSpc>
            </a:pPr>
            <a:r>
              <a:rPr lang="en-US" b="true" sz="1935" spc="-38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Authentication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15649575" y="3829050"/>
            <a:ext cx="1914525" cy="28575"/>
          </a:xfrm>
          <a:custGeom>
            <a:avLst/>
            <a:gdLst/>
            <a:ahLst/>
            <a:cxnLst/>
            <a:rect r="r" b="b" t="t" l="l"/>
            <a:pathLst>
              <a:path h="28575" w="1914525">
                <a:moveTo>
                  <a:pt x="0" y="0"/>
                </a:moveTo>
                <a:lnTo>
                  <a:pt x="1914525" y="0"/>
                </a:lnTo>
                <a:lnTo>
                  <a:pt x="1914525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10447" t="-666666" r="-398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6002000" y="4225861"/>
            <a:ext cx="1188720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6"/>
              </a:lnSpc>
            </a:pPr>
            <a:r>
              <a:rPr lang="en-US" b="true" sz="1913" spc="-38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Payment Processing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15659100" y="5143500"/>
            <a:ext cx="1895475" cy="38100"/>
          </a:xfrm>
          <a:custGeom>
            <a:avLst/>
            <a:gdLst/>
            <a:ahLst/>
            <a:cxnLst/>
            <a:rect r="r" b="b" t="t" l="l"/>
            <a:pathLst>
              <a:path h="38100" w="1895475">
                <a:moveTo>
                  <a:pt x="0" y="0"/>
                </a:moveTo>
                <a:lnTo>
                  <a:pt x="1895475" y="0"/>
                </a:lnTo>
                <a:lnTo>
                  <a:pt x="1895475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-11055" t="0" r="-4522" b="-47500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15709392" y="5514023"/>
            <a:ext cx="1773936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3"/>
              </a:lnSpc>
            </a:pPr>
            <a:r>
              <a:rPr lang="en-US" b="true" sz="2002" spc="-4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Maps / Location Services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15659100" y="6429375"/>
            <a:ext cx="1895475" cy="85725"/>
          </a:xfrm>
          <a:custGeom>
            <a:avLst/>
            <a:gdLst/>
            <a:ahLst/>
            <a:cxnLst/>
            <a:rect r="r" b="b" t="t" l="l"/>
            <a:pathLst>
              <a:path h="85725" w="1895475">
                <a:moveTo>
                  <a:pt x="0" y="0"/>
                </a:moveTo>
                <a:lnTo>
                  <a:pt x="1895475" y="0"/>
                </a:lnTo>
                <a:lnTo>
                  <a:pt x="1895475" y="85725"/>
                </a:lnTo>
                <a:lnTo>
                  <a:pt x="0" y="8572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-11055" t="0" r="-4522" b="-155555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16020288" y="6796290"/>
            <a:ext cx="1133856" cy="350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0"/>
              </a:lnSpc>
            </a:pPr>
            <a:r>
              <a:rPr lang="en-US" b="true" sz="1935" spc="-38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REST APIs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15659100" y="7496175"/>
            <a:ext cx="1895475" cy="38100"/>
          </a:xfrm>
          <a:custGeom>
            <a:avLst/>
            <a:gdLst/>
            <a:ahLst/>
            <a:cxnLst/>
            <a:rect r="r" b="b" t="t" l="l"/>
            <a:pathLst>
              <a:path h="38100" w="1895475">
                <a:moveTo>
                  <a:pt x="0" y="0"/>
                </a:moveTo>
                <a:lnTo>
                  <a:pt x="1895475" y="0"/>
                </a:lnTo>
                <a:lnTo>
                  <a:pt x="1895475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-11055" t="-550000" r="-4522" b="-47500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16020288" y="7898321"/>
            <a:ext cx="1133856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6"/>
              </a:lnSpc>
            </a:pPr>
            <a:r>
              <a:rPr lang="en-US" b="true" sz="1913" spc="-38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Admin Dashboard</a:t>
            </a:r>
          </a:p>
        </p:txBody>
      </p:sp>
      <p:sp>
        <p:nvSpPr>
          <p:cNvPr name="Freeform 40" id="40"/>
          <p:cNvSpPr/>
          <p:nvPr/>
        </p:nvSpPr>
        <p:spPr>
          <a:xfrm flipH="false" flipV="false" rot="0">
            <a:off x="14363700" y="4448175"/>
            <a:ext cx="971550" cy="57150"/>
          </a:xfrm>
          <a:custGeom>
            <a:avLst/>
            <a:gdLst/>
            <a:ahLst/>
            <a:cxnLst/>
            <a:rect r="r" b="b" t="t" l="l"/>
            <a:pathLst>
              <a:path h="57150" w="971550">
                <a:moveTo>
                  <a:pt x="0" y="0"/>
                </a:moveTo>
                <a:lnTo>
                  <a:pt x="971550" y="0"/>
                </a:lnTo>
                <a:lnTo>
                  <a:pt x="97155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-283333" r="-12745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4363700" y="9001125"/>
            <a:ext cx="2257425" cy="219075"/>
          </a:xfrm>
          <a:custGeom>
            <a:avLst/>
            <a:gdLst/>
            <a:ahLst/>
            <a:cxnLst/>
            <a:rect r="r" b="b" t="t" l="l"/>
            <a:pathLst>
              <a:path h="219075" w="2257425">
                <a:moveTo>
                  <a:pt x="0" y="0"/>
                </a:moveTo>
                <a:lnTo>
                  <a:pt x="2257425" y="0"/>
                </a:lnTo>
                <a:lnTo>
                  <a:pt x="22574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-6329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16563975" y="8858250"/>
            <a:ext cx="66675" cy="333375"/>
          </a:xfrm>
          <a:custGeom>
            <a:avLst/>
            <a:gdLst/>
            <a:ahLst/>
            <a:cxnLst/>
            <a:rect r="r" b="b" t="t" l="l"/>
            <a:pathLst>
              <a:path h="333375" w="66675">
                <a:moveTo>
                  <a:pt x="0" y="0"/>
                </a:moveTo>
                <a:lnTo>
                  <a:pt x="66675" y="0"/>
                </a:lnTo>
                <a:lnTo>
                  <a:pt x="66675" y="333375"/>
                </a:lnTo>
                <a:lnTo>
                  <a:pt x="0" y="33337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-357142" t="-22857" r="-200000" b="-8571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512064" y="646735"/>
            <a:ext cx="6053328" cy="1060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95"/>
              </a:lnSpc>
            </a:pPr>
            <a:r>
              <a:rPr lang="en-US" sz="7995" spc="-31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Technology &amp;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81025" y="3028950"/>
            <a:ext cx="5514975" cy="3400425"/>
          </a:xfrm>
          <a:custGeom>
            <a:avLst/>
            <a:gdLst/>
            <a:ahLst/>
            <a:cxnLst/>
            <a:rect r="r" b="b" t="t" l="l"/>
            <a:pathLst>
              <a:path h="3400425" w="5514975">
                <a:moveTo>
                  <a:pt x="0" y="0"/>
                </a:moveTo>
                <a:lnTo>
                  <a:pt x="5514975" y="0"/>
                </a:lnTo>
                <a:lnTo>
                  <a:pt x="5514975" y="3400425"/>
                </a:lnTo>
                <a:lnTo>
                  <a:pt x="0" y="34004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63" t="-84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438900" y="3028950"/>
            <a:ext cx="5391150" cy="3400425"/>
          </a:xfrm>
          <a:custGeom>
            <a:avLst/>
            <a:gdLst/>
            <a:ahLst/>
            <a:cxnLst/>
            <a:rect r="r" b="b" t="t" l="l"/>
            <a:pathLst>
              <a:path h="3400425" w="5391150">
                <a:moveTo>
                  <a:pt x="0" y="0"/>
                </a:moveTo>
                <a:lnTo>
                  <a:pt x="5391150" y="0"/>
                </a:lnTo>
                <a:lnTo>
                  <a:pt x="5391150" y="3400425"/>
                </a:lnTo>
                <a:lnTo>
                  <a:pt x="0" y="34004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473" t="-840" r="-2826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144375" y="3028950"/>
            <a:ext cx="5553075" cy="3400425"/>
          </a:xfrm>
          <a:custGeom>
            <a:avLst/>
            <a:gdLst/>
            <a:ahLst/>
            <a:cxnLst/>
            <a:rect r="r" b="b" t="t" l="l"/>
            <a:pathLst>
              <a:path h="3400425" w="5553075">
                <a:moveTo>
                  <a:pt x="0" y="0"/>
                </a:moveTo>
                <a:lnTo>
                  <a:pt x="5553075" y="0"/>
                </a:lnTo>
                <a:lnTo>
                  <a:pt x="5553075" y="3400425"/>
                </a:lnTo>
                <a:lnTo>
                  <a:pt x="0" y="34004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087" t="-840" r="-2915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90550" y="6629400"/>
            <a:ext cx="17106900" cy="1066800"/>
          </a:xfrm>
          <a:custGeom>
            <a:avLst/>
            <a:gdLst/>
            <a:ahLst/>
            <a:cxnLst/>
            <a:rect r="r" b="b" t="t" l="l"/>
            <a:pathLst>
              <a:path h="1066800" w="17106900">
                <a:moveTo>
                  <a:pt x="0" y="0"/>
                </a:moveTo>
                <a:lnTo>
                  <a:pt x="17106900" y="0"/>
                </a:lnTo>
                <a:lnTo>
                  <a:pt x="17106900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946" t="-18750" r="-946" b="-1785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933950" y="6858000"/>
            <a:ext cx="76200" cy="638175"/>
          </a:xfrm>
          <a:custGeom>
            <a:avLst/>
            <a:gdLst/>
            <a:ahLst/>
            <a:cxnLst/>
            <a:rect r="r" b="b" t="t" l="l"/>
            <a:pathLst>
              <a:path h="638175" w="76200">
                <a:moveTo>
                  <a:pt x="0" y="0"/>
                </a:moveTo>
                <a:lnTo>
                  <a:pt x="76200" y="0"/>
                </a:lnTo>
                <a:lnTo>
                  <a:pt x="76200" y="638175"/>
                </a:lnTo>
                <a:lnTo>
                  <a:pt x="0" y="6381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00000" t="0" r="0" b="-1492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449300" y="6858000"/>
            <a:ext cx="47625" cy="628650"/>
          </a:xfrm>
          <a:custGeom>
            <a:avLst/>
            <a:gdLst/>
            <a:ahLst/>
            <a:cxnLst/>
            <a:rect r="r" b="b" t="t" l="l"/>
            <a:pathLst>
              <a:path h="628650" w="47625">
                <a:moveTo>
                  <a:pt x="0" y="0"/>
                </a:moveTo>
                <a:lnTo>
                  <a:pt x="47625" y="0"/>
                </a:lnTo>
                <a:lnTo>
                  <a:pt x="47625" y="628650"/>
                </a:lnTo>
                <a:lnTo>
                  <a:pt x="0" y="6286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360000" t="0" r="-20000" b="-303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895975" y="4438650"/>
            <a:ext cx="695325" cy="428625"/>
          </a:xfrm>
          <a:custGeom>
            <a:avLst/>
            <a:gdLst/>
            <a:ahLst/>
            <a:cxnLst/>
            <a:rect r="r" b="b" t="t" l="l"/>
            <a:pathLst>
              <a:path h="428625" w="695325">
                <a:moveTo>
                  <a:pt x="0" y="0"/>
                </a:moveTo>
                <a:lnTo>
                  <a:pt x="695325" y="0"/>
                </a:lnTo>
                <a:lnTo>
                  <a:pt x="6953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739" t="-35555" r="-23287" b="-15555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620500" y="4448175"/>
            <a:ext cx="685800" cy="409575"/>
          </a:xfrm>
          <a:custGeom>
            <a:avLst/>
            <a:gdLst/>
            <a:ahLst/>
            <a:cxnLst/>
            <a:rect r="r" b="b" t="t" l="l"/>
            <a:pathLst>
              <a:path h="409575" w="685800">
                <a:moveTo>
                  <a:pt x="0" y="0"/>
                </a:moveTo>
                <a:lnTo>
                  <a:pt x="685800" y="0"/>
                </a:lnTo>
                <a:lnTo>
                  <a:pt x="685800" y="409575"/>
                </a:lnTo>
                <a:lnTo>
                  <a:pt x="0" y="4095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2500" t="-39534" r="-15277" b="-18604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76656" y="496624"/>
            <a:ext cx="5138928" cy="1314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12"/>
              </a:lnSpc>
            </a:pPr>
            <a:r>
              <a:rPr lang="en-US" sz="10013" spc="-42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Impact of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76656" y="1607620"/>
            <a:ext cx="5998464" cy="1314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12"/>
              </a:lnSpc>
            </a:pPr>
            <a:r>
              <a:rPr lang="en-US" sz="10013" spc="-420" b="true">
                <a:solidFill>
                  <a:srgbClr val="98C558"/>
                </a:solidFill>
                <a:latin typeface="Roboto Bold"/>
                <a:ea typeface="Roboto Bold"/>
                <a:cs typeface="Roboto Bold"/>
                <a:sym typeface="Roboto Bold"/>
              </a:rPr>
              <a:t>SAVORA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2416" y="3428809"/>
            <a:ext cx="2267712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4"/>
              </a:lnSpc>
            </a:pPr>
            <a:r>
              <a:rPr lang="en-US" b="true" sz="2962" spc="-124">
                <a:solidFill>
                  <a:srgbClr val="98C558"/>
                </a:solidFill>
                <a:latin typeface="Roboto Bold"/>
                <a:ea typeface="Roboto Bold"/>
                <a:cs typeface="Roboto Bold"/>
                <a:sym typeface="Roboto Bold"/>
              </a:rPr>
              <a:t>CUSTOMERS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42416" y="4104322"/>
            <a:ext cx="3694176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1"/>
              </a:lnSpc>
            </a:pPr>
            <a:r>
              <a:rPr lang="en-US" sz="2259" spc="-2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Affordable meals &amp; discounts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42416" y="4674108"/>
            <a:ext cx="3986784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7"/>
              </a:lnSpc>
            </a:pPr>
            <a:r>
              <a:rPr lang="en-US" sz="2231" spc="-2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More choices &amp; transparent info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42416" y="5215318"/>
            <a:ext cx="398678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1"/>
              </a:lnSpc>
            </a:pPr>
            <a:r>
              <a:rPr lang="en-US" sz="2259" spc="-2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Personalized recommendations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912864" y="3428809"/>
            <a:ext cx="2688336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4"/>
              </a:lnSpc>
            </a:pPr>
            <a:r>
              <a:rPr lang="en-US" b="true" sz="2962" spc="-124">
                <a:solidFill>
                  <a:srgbClr val="98C558"/>
                </a:solidFill>
                <a:latin typeface="Roboto Bold"/>
                <a:ea typeface="Roboto Bold"/>
                <a:cs typeface="Roboto Bold"/>
                <a:sym typeface="Roboto Bold"/>
              </a:rPr>
              <a:t>RESTAURANTS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912864" y="4113847"/>
            <a:ext cx="2450592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87" spc="-2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Reduce food waste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912864" y="5215318"/>
            <a:ext cx="4096512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1"/>
              </a:lnSpc>
            </a:pPr>
            <a:r>
              <a:rPr lang="en-US" sz="2259" spc="-2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Reach price-sensitive customers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912864" y="5780341"/>
            <a:ext cx="3602736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87" spc="-2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Understand surplus patterns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582144" y="3428809"/>
            <a:ext cx="466344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4"/>
              </a:lnSpc>
            </a:pPr>
            <a:r>
              <a:rPr lang="en-US" b="true" sz="2962" spc="-124">
                <a:solidFill>
                  <a:srgbClr val="98C558"/>
                </a:solidFill>
                <a:latin typeface="Roboto Bold"/>
                <a:ea typeface="Roboto Bold"/>
                <a:cs typeface="Roboto Bold"/>
                <a:sym typeface="Roboto Bold"/>
              </a:rPr>
              <a:t>SOCIETY &amp; ENVIRONMENT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582144" y="4113847"/>
            <a:ext cx="2450592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87" spc="-2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Reduce food waste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582144" y="4674108"/>
            <a:ext cx="4242816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3"/>
              </a:lnSpc>
            </a:pPr>
            <a:r>
              <a:rPr lang="en-US" sz="2203" spc="-2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Promote sustainable consumption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582144" y="5224843"/>
            <a:ext cx="2487168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87" spc="-2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Better resource use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828800" y="6945820"/>
            <a:ext cx="1956816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b="true" sz="2667" spc="-112">
                <a:solidFill>
                  <a:srgbClr val="98C558"/>
                </a:solidFill>
                <a:latin typeface="Roboto Bold"/>
                <a:ea typeface="Roboto Bold"/>
                <a:cs typeface="Roboto Bold"/>
                <a:sym typeface="Roboto Bold"/>
              </a:rPr>
              <a:t>LESS WASTE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016752" y="6945820"/>
            <a:ext cx="2084832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b="true" sz="2667" spc="-112">
                <a:solidFill>
                  <a:srgbClr val="98C558"/>
                </a:solidFill>
                <a:latin typeface="Roboto Bold"/>
                <a:ea typeface="Roboto Bold"/>
                <a:cs typeface="Roboto Bold"/>
                <a:sym typeface="Roboto Bold"/>
              </a:rPr>
              <a:t>LOWER COST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021824" y="6945820"/>
            <a:ext cx="2706624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b="true" sz="2667" spc="-112">
                <a:solidFill>
                  <a:srgbClr val="98C558"/>
                </a:solidFill>
                <a:latin typeface="Roboto Bold"/>
                <a:ea typeface="Roboto Bold"/>
                <a:cs typeface="Roboto Bold"/>
                <a:sym typeface="Roboto Bold"/>
              </a:rPr>
              <a:t>BETTER REVENUE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264640" y="6945820"/>
            <a:ext cx="256032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b="true" sz="2667" spc="-112">
                <a:solidFill>
                  <a:srgbClr val="98C558"/>
                </a:solidFill>
                <a:latin typeface="Roboto Bold"/>
                <a:ea typeface="Roboto Bold"/>
                <a:cs typeface="Roboto Bold"/>
                <a:sym typeface="Roboto Bold"/>
              </a:rPr>
              <a:t>SUSTAINABILITY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323975" y="7381875"/>
            <a:ext cx="16964025" cy="2905125"/>
          </a:xfrm>
          <a:custGeom>
            <a:avLst/>
            <a:gdLst/>
            <a:ahLst/>
            <a:cxnLst/>
            <a:rect r="r" b="b" t="t" l="l"/>
            <a:pathLst>
              <a:path h="2905125" w="16964025">
                <a:moveTo>
                  <a:pt x="0" y="0"/>
                </a:moveTo>
                <a:lnTo>
                  <a:pt x="16964025" y="0"/>
                </a:lnTo>
                <a:lnTo>
                  <a:pt x="16964025" y="2905125"/>
                </a:lnTo>
                <a:lnTo>
                  <a:pt x="0" y="29051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112" t="-3278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6912864" y="4664583"/>
            <a:ext cx="2121408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8"/>
              </a:lnSpc>
            </a:pPr>
            <a:r>
              <a:rPr lang="en-US" sz="2315" spc="-2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Recover revenue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6905625"/>
          </a:xfrm>
          <a:custGeom>
            <a:avLst/>
            <a:gdLst/>
            <a:ahLst/>
            <a:cxnLst/>
            <a:rect r="r" b="b" t="t" l="l"/>
            <a:pathLst>
              <a:path h="6905625" w="18288000">
                <a:moveTo>
                  <a:pt x="0" y="0"/>
                </a:moveTo>
                <a:lnTo>
                  <a:pt x="18288000" y="0"/>
                </a:lnTo>
                <a:lnTo>
                  <a:pt x="18288000" y="6905625"/>
                </a:lnTo>
                <a:lnTo>
                  <a:pt x="0" y="69056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2482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6858000"/>
            <a:ext cx="18288000" cy="3429000"/>
          </a:xfrm>
          <a:custGeom>
            <a:avLst/>
            <a:gdLst/>
            <a:ahLst/>
            <a:cxnLst/>
            <a:rect r="r" b="b" t="t" l="l"/>
            <a:pathLst>
              <a:path h="3429000" w="18288000">
                <a:moveTo>
                  <a:pt x="0" y="0"/>
                </a:moveTo>
                <a:lnTo>
                  <a:pt x="18288000" y="0"/>
                </a:lnTo>
                <a:lnTo>
                  <a:pt x="1828800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49808" y="782609"/>
            <a:ext cx="8339328" cy="1199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67"/>
              </a:lnSpc>
            </a:pPr>
            <a:r>
              <a:rPr lang="en-US" sz="8967" spc="-17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Future Scope &amp;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49808" y="3018407"/>
            <a:ext cx="6766560" cy="490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0"/>
              </a:lnSpc>
            </a:pPr>
            <a:r>
              <a:rPr lang="en-US" sz="2814" spc="-5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Building a smarter, more sustainable future.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49808" y="3932959"/>
            <a:ext cx="5010912" cy="2562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6"/>
              </a:lnSpc>
            </a:pPr>
            <a:r>
              <a:rPr lang="en-US" sz="2744" spc="-5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AI-powered demand forecasting</a:t>
            </a:r>
          </a:p>
          <a:p>
            <a:pPr algn="l">
              <a:lnSpc>
                <a:spcPts val="4116"/>
              </a:lnSpc>
            </a:pPr>
            <a:r>
              <a:rPr lang="en-US" sz="2744" spc="-5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Smart inventory prediction</a:t>
            </a:r>
          </a:p>
          <a:p>
            <a:pPr algn="l">
              <a:lnSpc>
                <a:spcPts val="4116"/>
              </a:lnSpc>
            </a:pPr>
            <a:r>
              <a:rPr lang="en-US" sz="2744" spc="-5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Food donation &amp; NGO integration</a:t>
            </a:r>
          </a:p>
          <a:p>
            <a:pPr algn="l">
              <a:lnSpc>
                <a:spcPts val="4116"/>
              </a:lnSpc>
            </a:pPr>
            <a:r>
              <a:rPr lang="en-US" sz="2744" spc="-5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Carbon-footprint estimation</a:t>
            </a:r>
          </a:p>
          <a:p>
            <a:pPr algn="l">
              <a:lnSpc>
                <a:spcPts val="4116"/>
              </a:lnSpc>
            </a:pPr>
            <a:r>
              <a:rPr lang="en-US" sz="2744" spc="-5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Mobile app &amp; multi-city expansion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49808" y="7301532"/>
            <a:ext cx="10040112" cy="1668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43"/>
              </a:lnSpc>
            </a:pPr>
            <a:r>
              <a:rPr lang="en-US" sz="2962" spc="-5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SAVORA connects surplus food with people who value it, combining </a:t>
            </a:r>
            <a:r>
              <a:rPr lang="en-US" sz="2962" spc="-59" b="true">
                <a:solidFill>
                  <a:srgbClr val="7BAF5D"/>
                </a:solidFill>
                <a:latin typeface="Roboto Bold"/>
                <a:ea typeface="Roboto Bold"/>
                <a:cs typeface="Roboto Bold"/>
                <a:sym typeface="Roboto Bold"/>
              </a:rPr>
              <a:t>Full Stack Development + AI/ML + Business Value + Sustainability.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762000" y="9515475"/>
            <a:ext cx="10782300" cy="47625"/>
          </a:xfrm>
          <a:custGeom>
            <a:avLst/>
            <a:gdLst/>
            <a:ahLst/>
            <a:cxnLst/>
            <a:rect r="r" b="b" t="t" l="l"/>
            <a:pathLst>
              <a:path h="47625" w="10782300">
                <a:moveTo>
                  <a:pt x="0" y="0"/>
                </a:moveTo>
                <a:lnTo>
                  <a:pt x="10782300" y="0"/>
                </a:lnTo>
                <a:lnTo>
                  <a:pt x="10782300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60" t="-180000" r="0" b="-18000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991975" y="6858000"/>
            <a:ext cx="66675" cy="2743200"/>
          </a:xfrm>
          <a:custGeom>
            <a:avLst/>
            <a:gdLst/>
            <a:ahLst/>
            <a:cxnLst/>
            <a:rect r="r" b="b" t="t" l="l"/>
            <a:pathLst>
              <a:path h="2743200" w="66675">
                <a:moveTo>
                  <a:pt x="0" y="0"/>
                </a:moveTo>
                <a:lnTo>
                  <a:pt x="66675" y="0"/>
                </a:lnTo>
                <a:lnTo>
                  <a:pt x="66675" y="2743200"/>
                </a:lnTo>
                <a:lnTo>
                  <a:pt x="0" y="27432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8571" t="0" r="-200000" b="-1736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2618720" y="7267789"/>
            <a:ext cx="1719072" cy="416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0"/>
              </a:lnSpc>
            </a:pPr>
            <a:r>
              <a:rPr lang="en-US" sz="2371" spc="-4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Final thought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618720" y="7818120"/>
            <a:ext cx="4279392" cy="180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5"/>
              </a:lnSpc>
            </a:pPr>
            <a:r>
              <a:rPr lang="en-US" sz="3996" spc="-79" b="true">
                <a:solidFill>
                  <a:srgbClr val="7BAF5D"/>
                </a:solidFill>
                <a:latin typeface="Roboto Bold"/>
                <a:ea typeface="Roboto Bold"/>
                <a:cs typeface="Roboto Bold"/>
                <a:sym typeface="Roboto Bold"/>
              </a:rPr>
              <a:t>“Don’t waste food that someone can still value.”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9077325" y="866775"/>
            <a:ext cx="4543425" cy="6038850"/>
          </a:xfrm>
          <a:custGeom>
            <a:avLst/>
            <a:gdLst/>
            <a:ahLst/>
            <a:cxnLst/>
            <a:rect r="r" b="b" t="t" l="l"/>
            <a:pathLst>
              <a:path h="6038850" w="4543425">
                <a:moveTo>
                  <a:pt x="0" y="0"/>
                </a:moveTo>
                <a:lnTo>
                  <a:pt x="4543425" y="0"/>
                </a:lnTo>
                <a:lnTo>
                  <a:pt x="4543425" y="6038850"/>
                </a:lnTo>
                <a:lnTo>
                  <a:pt x="0" y="60388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354" t="-157" r="-2096" b="-2839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992100" y="1285875"/>
            <a:ext cx="4857750" cy="5619750"/>
          </a:xfrm>
          <a:custGeom>
            <a:avLst/>
            <a:gdLst/>
            <a:ahLst/>
            <a:cxnLst/>
            <a:rect r="r" b="b" t="t" l="l"/>
            <a:pathLst>
              <a:path h="5619750" w="4857750">
                <a:moveTo>
                  <a:pt x="0" y="0"/>
                </a:moveTo>
                <a:lnTo>
                  <a:pt x="4857750" y="0"/>
                </a:lnTo>
                <a:lnTo>
                  <a:pt x="4857750" y="5619750"/>
                </a:lnTo>
                <a:lnTo>
                  <a:pt x="0" y="56197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3137" t="0" r="-196" b="-305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749808" y="1862744"/>
            <a:ext cx="6035040" cy="1199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67"/>
              </a:lnSpc>
            </a:pPr>
            <a:r>
              <a:rPr lang="en-US" sz="8967" spc="-179" b="true">
                <a:solidFill>
                  <a:srgbClr val="7BAF5D"/>
                </a:solidFill>
                <a:latin typeface="Roboto Bold"/>
                <a:ea typeface="Roboto Bold"/>
                <a:cs typeface="Roboto Bold"/>
                <a:sym typeface="Roboto Bold"/>
              </a:rPr>
              <a:t>Conclusion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DAHU0ONpjNU</dc:identifier>
  <dcterms:modified xsi:type="dcterms:W3CDTF">2011-08-01T06:04:30Z</dcterms:modified>
  <cp:revision>1</cp:revision>
  <dc:title>Ruchit Chovatiya — 2648518 Kuldip Gohel — 2648520 Pratixa Jayani --- 2648524</dc:title>
</cp:coreProperties>
</file>